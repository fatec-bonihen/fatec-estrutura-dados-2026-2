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54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2.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3.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4.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5.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6.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7.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8.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9.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10.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11.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12.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13.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14.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15.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16.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17.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18.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19.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20.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inaugural - slide 21. Conduzir de forma dialogada e conectar com 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321040" y="228600"/>
            <a:ext cx="3017520" cy="3017520"/>
          </a:xfrm>
          <a:prstGeom prst="arc">
            <a:avLst/>
          </a:prstGeom>
          <a:solidFill>
            <a:srgbClr val="0B1F3A">
              <a:alpha val="0"/>
            </a:srgbClr>
          </a:solidFill>
          <a:ln w="25400">
            <a:solidFill>
              <a:srgbClr val="2F80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778240" y="3703320"/>
            <a:ext cx="2560320" cy="2560320"/>
          </a:xfrm>
          <a:prstGeom prst="arc">
            <a:avLst/>
          </a:prstGeom>
          <a:solidFill>
            <a:srgbClr val="0B1F3A">
              <a:alpha val="0"/>
            </a:srgbClr>
          </a:solidFill>
          <a:ln w="25400">
            <a:solidFill>
              <a:srgbClr val="00B8D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FATEC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Estruturas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de Dados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7FF"/>
                </a:solidFill>
              </a:rPr>
              <a:t>Aula inaugural - Apresentação da disciplina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6875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7FF"/>
                </a:solidFill>
              </a:rPr>
              <a:t>Prof. Lucas Bonilha Henrique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8E7FF"/>
                </a:solidFill>
              </a:rPr>
              <a:t>2º semestre de 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0" y="1600200"/>
            <a:ext cx="566928" cy="566928"/>
          </a:xfrm>
          <a:prstGeom prst="ellipse">
            <a:avLst/>
          </a:prstGeom>
          <a:solidFill>
            <a:srgbClr val="2F80ED">
              <a:alpha val="88000"/>
            </a:srgbClr>
          </a:solidFill>
          <a:ln w="12700">
            <a:solidFill>
              <a:srgbClr val="A7D8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909560" y="1883664"/>
            <a:ext cx="594360" cy="0"/>
          </a:xfrm>
          <a:prstGeom prst="line">
            <a:avLst/>
          </a:prstGeom>
          <a:noFill/>
          <a:ln w="15240">
            <a:solidFill>
              <a:srgbClr val="7EB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549640" y="1600200"/>
            <a:ext cx="566928" cy="566928"/>
          </a:xfrm>
          <a:prstGeom prst="ellipse">
            <a:avLst/>
          </a:prstGeom>
          <a:solidFill>
            <a:srgbClr val="00B8D9">
              <a:alpha val="88000"/>
            </a:srgbClr>
          </a:solidFill>
          <a:ln w="12700">
            <a:solidFill>
              <a:srgbClr val="A7D8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144000" y="1883664"/>
            <a:ext cx="594360" cy="0"/>
          </a:xfrm>
          <a:prstGeom prst="line">
            <a:avLst/>
          </a:prstGeom>
          <a:noFill/>
          <a:ln w="15240">
            <a:solidFill>
              <a:srgbClr val="7EB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784080" y="1600200"/>
            <a:ext cx="566928" cy="566928"/>
          </a:xfrm>
          <a:prstGeom prst="ellipse">
            <a:avLst/>
          </a:prstGeom>
          <a:solidFill>
            <a:srgbClr val="2F80ED">
              <a:alpha val="88000"/>
            </a:srgbClr>
          </a:solidFill>
          <a:ln w="12700">
            <a:solidFill>
              <a:srgbClr val="A7D8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0378440" y="1883664"/>
            <a:ext cx="594360" cy="786384"/>
          </a:xfrm>
          <a:prstGeom prst="line">
            <a:avLst/>
          </a:prstGeom>
          <a:noFill/>
          <a:ln w="15240">
            <a:solidFill>
              <a:srgbClr val="7EB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315200" y="2679192"/>
            <a:ext cx="566928" cy="566928"/>
          </a:xfrm>
          <a:prstGeom prst="ellipse">
            <a:avLst/>
          </a:prstGeom>
          <a:solidFill>
            <a:srgbClr val="00B8D9">
              <a:alpha val="88000"/>
            </a:srgbClr>
          </a:solidFill>
          <a:ln w="12700">
            <a:solidFill>
              <a:srgbClr val="A7D8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909560" y="2962656"/>
            <a:ext cx="594360" cy="0"/>
          </a:xfrm>
          <a:prstGeom prst="line">
            <a:avLst/>
          </a:prstGeom>
          <a:noFill/>
          <a:ln w="15240">
            <a:solidFill>
              <a:srgbClr val="7EB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549640" y="2679192"/>
            <a:ext cx="566928" cy="566928"/>
          </a:xfrm>
          <a:prstGeom prst="ellipse">
            <a:avLst/>
          </a:prstGeom>
          <a:solidFill>
            <a:srgbClr val="2F80ED">
              <a:alpha val="88000"/>
            </a:srgbClr>
          </a:solidFill>
          <a:ln w="12700">
            <a:solidFill>
              <a:srgbClr val="A7D8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144000" y="2962656"/>
            <a:ext cx="594360" cy="0"/>
          </a:xfrm>
          <a:prstGeom prst="line">
            <a:avLst/>
          </a:prstGeom>
          <a:noFill/>
          <a:ln w="15240">
            <a:solidFill>
              <a:srgbClr val="7EB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784080" y="2679192"/>
            <a:ext cx="566928" cy="566928"/>
          </a:xfrm>
          <a:prstGeom prst="ellipse">
            <a:avLst/>
          </a:prstGeom>
          <a:solidFill>
            <a:srgbClr val="00B8D9">
              <a:alpha val="88000"/>
            </a:srgbClr>
          </a:solidFill>
          <a:ln w="12700">
            <a:solidFill>
              <a:srgbClr val="A7D8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8368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8E7FF"/>
                </a:solidFill>
              </a:rPr>
              <a:t>dados • memória • algoritmos • desempenho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Bem-vindos à disciplina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Hoje vamos alinhar o caminho do semestre e formar a base de trabalho.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64008" cy="196596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60120" y="1947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 que vamos fazer hoje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313432"/>
            <a:ext cx="285292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Plano de ensino, cronograma, avaliações, Projeto Integrador, ferramentas, diagnóstico da turma e formação dos grupos.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480560" y="1783080"/>
            <a:ext cx="64008" cy="19659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09160" y="1947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 que não faremos ainda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313432"/>
            <a:ext cx="285292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Não é uma aula pesada de código. É uma aula para entender o propósito, as regras e a organização da disciplina.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229600" y="1783080"/>
            <a:ext cx="64008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458200" y="1947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Resultado esperado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313432"/>
            <a:ext cx="285292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Sair daqui sabendo o que será estudado, como será avaliado e como começar bem.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1440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Pergunta-guia da aula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Como organizar dados para resolver problemas reais com eficiência?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Professor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Apresentação rápida para contextualizar minha relação com a disciplina.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234440" cy="1234440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2029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LB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Lucas Bonilha Henrique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395728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Engenharia de Dados • Tecnologia • Ensino Superior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377440" y="2788920"/>
            <a:ext cx="64008" cy="141732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606040" y="2953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Mercado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3319272"/>
            <a:ext cx="22128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Atuação profissional em Engenharia de Dados, plataformas e sistemas orientados a dados.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25780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257800" y="2788920"/>
            <a:ext cx="64008" cy="14173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86400" y="2953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Sala de aula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319272"/>
            <a:ext cx="22128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Foco em prática, organização de raciocínio e conexão com problemas reais.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13816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138160" y="278892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366760" y="2953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Expectativa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3319272"/>
            <a:ext cx="22128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Participação, constância, tentativa, erro e melhoria ao longo do semestre.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74151"/>
                </a:solidFill>
              </a:rPr>
              <a:t>Meu papel: criar trilha, contexto e prática. O aprendizado acontece quando vocês manipulam as estruturas.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Conhecendo a turma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Diagnóstico inicial para calibrar ritmo, exemplos e grupos.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64008" cy="73152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Pergunta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45445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Já programou em Python?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64008" cy="7315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190195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Pergunta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267712"/>
            <a:ext cx="45445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Já programou em C?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22960" y="2788920"/>
            <a:ext cx="64008" cy="73152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51560" y="29535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Pergunta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19272"/>
            <a:ext cx="45445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Sabe usar Git/GitHub?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263640" y="2788920"/>
            <a:ext cx="64008" cy="7315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92240" y="29535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Pergunta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19272"/>
            <a:ext cx="45445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Já estudou algoritmos?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2960" y="384048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22960" y="3840480"/>
            <a:ext cx="64008" cy="73152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51560" y="40050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Pergunta 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370832"/>
            <a:ext cx="45445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Prefere exemplos de negócio, jogos, dados ou web?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63640" y="384048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263640" y="3840480"/>
            <a:ext cx="64008" cy="7315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92240" y="40050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Pergunta 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370832"/>
            <a:ext cx="45445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Qual sua expectativa para a disciplina?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100584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A ideia não é julgar nível. É entender a turma para formar grupos mais equilibrados.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Por que estudar Estruturas de Dados?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Porque software não manipula “coisas soltas”: manipula dados organizados.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Programar é escrever instruções.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Construir software é escolher boas representações.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96112" y="3063240"/>
            <a:ext cx="53035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374151"/>
                </a:solidFill>
              </a:rPr>
              <a:t>Desempenho: encontrar, inserir e remover dados com eficiência.
</a:t>
            </a:r>
            <a:endParaRPr lang="en-US" sz="1600" dirty="0"/>
          </a:p>
          <a:p>
            <a:r>
              <a:rPr lang="en-US" sz="1600" dirty="0">
                <a:solidFill>
                  <a:srgbClr val="374151"/>
                </a:solidFill>
              </a:rPr>
              <a:t>Clareza: representar o problema do jeito certo.
</a:t>
            </a:r>
            <a:endParaRPr lang="en-US" sz="1600" dirty="0"/>
          </a:p>
          <a:p>
            <a:r>
              <a:rPr lang="en-US" sz="1600" dirty="0">
                <a:solidFill>
                  <a:srgbClr val="374151"/>
                </a:solidFill>
              </a:rPr>
              <a:t>Escalabilidade: preparar sistemas para crescer.
</a:t>
            </a:r>
            <a:endParaRPr lang="en-US" sz="1600" dirty="0"/>
          </a:p>
          <a:p>
            <a:r>
              <a:rPr lang="en-US" sz="1600" dirty="0">
                <a:solidFill>
                  <a:srgbClr val="374151"/>
                </a:solidFill>
              </a:rPr>
              <a:t>Decisão técnica: saber justificar escolhas.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52360" y="16184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Cadastro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956816"/>
            <a:ext cx="0" cy="356616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315200" y="233172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452360" y="24414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Fila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2779776"/>
            <a:ext cx="0" cy="356616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315200" y="315468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52360" y="32644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Busca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3602736"/>
            <a:ext cx="0" cy="356616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315200" y="39776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452360" y="408736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Relatório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166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5BFF"/>
                </a:solidFill>
              </a:rPr>
              <a:t>Sem estrutura, o sistema vira improviso.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Estruturas de Dados no cotidiano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Exemplos próximos de sistemas empresariais e aplicações comerciais.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64008" cy="123444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Filas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21992"/>
            <a:ext cx="2807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atendimento, pedidos, processamento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64008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856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Pilhas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221992"/>
            <a:ext cx="2807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histórico, desfazer, navegação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321040" y="16916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321040" y="169164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549640" y="1856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Listas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2221992"/>
            <a:ext cx="2807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cadastros, registros, coleções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22960" y="33832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22960" y="338328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5156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Árvores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913632"/>
            <a:ext cx="2807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buscas, hierarquias, bancos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572000" y="33832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72000" y="3383280"/>
            <a:ext cx="64008" cy="1234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0060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Grafos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913632"/>
            <a:ext cx="2807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relacionamentos, redes, rotas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321040" y="338328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321040" y="3383280"/>
            <a:ext cx="64008" cy="1234440"/>
          </a:xfrm>
          <a:prstGeom prst="rect">
            <a:avLst/>
          </a:prstGeom>
          <a:solidFill>
            <a:srgbClr val="B30D0D"/>
          </a:solidFill>
          <a:ln w="12700">
            <a:solidFill>
              <a:srgbClr val="B30D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54964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Hash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49640" y="3913632"/>
            <a:ext cx="2807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consulta rápida, cache, índices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Informática para Negócios exige entender tecnologia como apoio a processos, dados e decisão.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Mapa do semestre por unidades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 disciplina foi organizada como uma trilha progressiva.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49808" cy="7498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17904" y="2286000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Introdução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148840" y="1920240"/>
            <a:ext cx="749808" cy="7498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14884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35224" y="2286000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01168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Fundamentos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566160" y="1920240"/>
            <a:ext cx="749808" cy="7498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56616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III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52544" y="2286000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4290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Recursividade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983480" y="1920240"/>
            <a:ext cx="749808" cy="7498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8348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9864" y="2286000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Listas dinâmicas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00800" y="1920240"/>
            <a:ext cx="749808" cy="7498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87184" y="2286000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6364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Pilhas e filas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18120" y="1920240"/>
            <a:ext cx="749808" cy="7498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81812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04504" y="2286000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68096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Hash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235440" y="1920240"/>
            <a:ext cx="749808" cy="7498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23544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021824" y="2286000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09828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Árvores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0652760" y="1920240"/>
            <a:ext cx="749808" cy="7498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0652760" y="21305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VIII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74151"/>
                </a:solidFill>
              </a:rPr>
              <a:t>Busca e ordenação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14400" y="38862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914400" y="3886200"/>
            <a:ext cx="64008" cy="109728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143000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Etapa 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43000" y="4416552"/>
            <a:ext cx="25786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Unidades I a IV culminam no Estudo de Caso I.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4617720" y="38862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4617720" y="3886200"/>
            <a:ext cx="64008" cy="10972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846320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Etapa 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46320" y="4416552"/>
            <a:ext cx="25786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Unidades V a VIII culminam no Estudo de Caso II.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8321040" y="38862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8321040" y="388620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8549640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Projeto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549640" y="4416552"/>
            <a:ext cx="25786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Aplicação prática e apresentação final.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Unidade I - Introdução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Primeiro contato com a disciplina e ambiente de trabalho.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E5BFF"/>
                </a:solidFill>
              </a:rPr>
              <a:t>05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ago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6002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103120" y="1600200"/>
            <a:ext cx="64008" cy="1143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331720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Aula 1 - Apresentação da Disciplina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130552"/>
            <a:ext cx="37673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Plano de ensino, cronograma, avaliação, Projeto Integrador, bibliografia, ferramentas, diagnóstico da turma e formação dos grupos.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86868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00B8D9"/>
                </a:solidFill>
              </a:rPr>
              <a:t>12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777240" y="4178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ago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33375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103120" y="3337560"/>
            <a:ext cx="64008" cy="11430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331720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Aula 2 - Fundamentos da Disciplina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867912"/>
            <a:ext cx="37673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Introdução às Estruturas de Dados, aplicações no mercado, ambiente Python/C, Git e organização do projeto.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76656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Bibliografia-base: Plano de Ensino, Edelweiss e Koffman.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0" y="2743200"/>
            <a:ext cx="4114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</a:rPr>
              <a:t>Foco: entender o que será construído e preparar a turma para trabalhar com código, dados e versionamento.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Unidades II e III - Base conceitual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Antes das estruturas, precisamos entender abstração, memória e recursividade.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64008" cy="201168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Unidade II - TAD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21992"/>
            <a:ext cx="308152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19/ago - Tipos Abstratos de Dados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26/ago - Representação em Memória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TAD, encapsulamento, arrays, referências e representação lógica/física.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64008" cy="2011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8562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Unidade III - Recursividade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221992"/>
            <a:ext cx="308152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02/set - Recursividade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Conceitos, pilha de chamadas, casos base e implementação prática.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321040" y="1691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321040" y="1691640"/>
            <a:ext cx="64008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549640" y="1856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Por que importa?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2221992"/>
            <a:ext cx="257860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 turma precisa saber explicar como os dados ficam organizados e como o programa percorre esses dados.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Palavras-chave: abstração • memória • referência • desempenho • chamada recursiva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Unidade IV + P1 - Estruturas dinâmicas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Aqui começamos a construir estruturas com nós e referências.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64008" cy="150876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09/set - Alocação Dinâmica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30552"/>
            <a:ext cx="27614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Memória dinâmica, nós, referências, Python e demonstrações em C.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297680" y="1600200"/>
            <a:ext cx="64008" cy="1508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2628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16/set - Listas Encadeadas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130552"/>
            <a:ext cx="27614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Listas simples, duplas e circulares. Exercícios integradores e revisão da etapa.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772400" y="160020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0" y="1600200"/>
            <a:ext cx="64008" cy="1508760"/>
          </a:xfrm>
          <a:prstGeom prst="rect">
            <a:avLst/>
          </a:prstGeom>
          <a:solidFill>
            <a:srgbClr val="B30D0D"/>
          </a:solidFill>
          <a:ln w="12700">
            <a:solidFill>
              <a:srgbClr val="B30D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00100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23/set - P1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2130552"/>
            <a:ext cx="27614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Estudo de Caso I: avaliação prática + entrega das listas das Unidades I a IV.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828800" y="4251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</a:rPr>
              <a:t>nó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0" y="3977640"/>
            <a:ext cx="749808" cy="43891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524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035808" y="413308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74151"/>
                </a:solidFill>
              </a:rPr>
              <a:t>dado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694176" y="4197096"/>
            <a:ext cx="448056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160520" y="3977640"/>
            <a:ext cx="749808" cy="43891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524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270248" y="413308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74151"/>
                </a:solidFill>
              </a:rPr>
              <a:t>dado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928616" y="4197096"/>
            <a:ext cx="448056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394960" y="3977640"/>
            <a:ext cx="749808" cy="43891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524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504688" y="413308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74151"/>
                </a:solidFill>
              </a:rPr>
              <a:t>dado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163056" y="4197096"/>
            <a:ext cx="448056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629400" y="3977640"/>
            <a:ext cx="749808" cy="43891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524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739128" y="413308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74151"/>
                </a:solidFill>
              </a:rPr>
              <a:t>dado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Unidades V a VIII - Estruturas e algoritmos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 segunda etapa amplia o repertório técnico da turma.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64008" cy="123444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60120" y="17922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Unidade 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57984"/>
            <a:ext cx="20756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30/set - Pilhas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07/out - Filas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429000" y="1627632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429000" y="1627632"/>
            <a:ext cx="64008" cy="12344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0" y="17922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Unidade VI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157984"/>
            <a:ext cx="20756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14/out - Tabelas Hash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126480" y="1627632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126480" y="1627632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17922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Unidade VII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157984"/>
            <a:ext cx="20756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21/out - Árvores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823960" y="1627632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823960" y="1627632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052560" y="179222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Unidade VIII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2157984"/>
            <a:ext cx="20756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28/out - Busca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04/nov - Ordenação e revisão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</a:rPr>
              <a:t>Sequência de complexidade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" y="4343400"/>
            <a:ext cx="1965960" cy="502920"/>
          </a:xfrm>
          <a:prstGeom prst="chevron">
            <a:avLst/>
          </a:prstGeom>
          <a:solidFill>
            <a:srgbClr val="1E5B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97280" y="450799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linear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4343400"/>
            <a:ext cx="1965960" cy="502920"/>
          </a:xfrm>
          <a:prstGeom prst="chevron">
            <a:avLst/>
          </a:prstGeom>
          <a:solidFill>
            <a:srgbClr val="00B8D9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566160" y="450799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acesso direto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4343400"/>
            <a:ext cx="1965960" cy="502920"/>
          </a:xfrm>
          <a:prstGeom prst="chevron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035040" y="450799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hierárquico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412480" y="4343400"/>
            <a:ext cx="1965960" cy="502920"/>
          </a:xfrm>
          <a:prstGeom prst="chevron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503920" y="450799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algoritmos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Avaliações, Projeto e Encerramento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Marcos principais do semestre.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0D0D"/>
                </a:solidFill>
              </a:rPr>
              <a:t>23/set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16002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645920" y="1600200"/>
            <a:ext cx="64008" cy="868680"/>
          </a:xfrm>
          <a:prstGeom prst="rect">
            <a:avLst/>
          </a:prstGeom>
          <a:solidFill>
            <a:srgbClr val="B30D0D"/>
          </a:solidFill>
          <a:ln w="12700">
            <a:solidFill>
              <a:srgbClr val="B30D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874520" y="1764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2130552"/>
            <a:ext cx="21671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Estudo de Caso I + listas I-IV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452628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0D0D"/>
                </a:solidFill>
              </a:rPr>
              <a:t>11/nov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6002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394960" y="1600200"/>
            <a:ext cx="64008" cy="868680"/>
          </a:xfrm>
          <a:prstGeom prst="rect">
            <a:avLst/>
          </a:prstGeom>
          <a:solidFill>
            <a:srgbClr val="B30D0D"/>
          </a:solidFill>
          <a:ln w="12700">
            <a:solidFill>
              <a:srgbClr val="B30D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623560" y="1764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2130552"/>
            <a:ext cx="21671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Estudo de Caso II + listas V-VIII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827532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5BFF"/>
                </a:solidFill>
              </a:rPr>
              <a:t>18/nov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16002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144000" y="1600200"/>
            <a:ext cx="64008" cy="86868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372600" y="1764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Projeto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72600" y="2130552"/>
            <a:ext cx="21671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Mentoria e preparação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77240" y="3429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25/nov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645920" y="33375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645920" y="333756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874520" y="35021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Apresentação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74520" y="3867912"/>
            <a:ext cx="21671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Projetos Integradores - 3,0 pontos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26280" y="3429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02/dez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94960" y="33375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394960" y="33375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623560" y="35021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3867912"/>
            <a:ext cx="21671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Avaliação substitutiva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8275320" y="3429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D9"/>
                </a:solidFill>
              </a:rPr>
              <a:t>09/dez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44000" y="33375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144000" y="3337560"/>
            <a:ext cx="64008" cy="868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372600" y="35021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Fechamento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72600" y="3867912"/>
            <a:ext cx="21671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Feedback e encerramento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Detalhes de critérios e regras serão sempre conferidos no Plano de Ensino e nas orientações da disciplina.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Como serão as aulas?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 disciplina combina explicação, visualização, código e prática.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463040" y="1828800"/>
            <a:ext cx="658368" cy="658368"/>
          </a:xfrm>
          <a:prstGeom prst="ellipse">
            <a:avLst/>
          </a:prstGeom>
          <a:solidFill>
            <a:srgbClr val="1E5B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63040" y="20299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Conceito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374151"/>
                </a:solidFill>
              </a:rPr>
              <a:t>Entender a estrutura e o problema que ela resolve.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2148840" y="2157984"/>
            <a:ext cx="1325880" cy="0"/>
          </a:xfrm>
          <a:prstGeom prst="line">
            <a:avLst/>
          </a:prstGeom>
          <a:noFill/>
          <a:ln w="15240">
            <a:solidFill>
              <a:srgbClr val="B8C4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658368" cy="65836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251960" y="20299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Desenho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374151"/>
                </a:solidFill>
              </a:rPr>
              <a:t>Representar em memória, fluxo e operações.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937760" y="2157984"/>
            <a:ext cx="1325880" cy="0"/>
          </a:xfrm>
          <a:prstGeom prst="line">
            <a:avLst/>
          </a:prstGeom>
          <a:noFill/>
          <a:ln w="15240">
            <a:solidFill>
              <a:srgbClr val="B8C4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040880" y="182880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040880" y="20299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Código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374151"/>
                </a:solidFill>
              </a:rPr>
              <a:t>Implementar e depurar em Python/C quando aplicável.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726680" y="2157984"/>
            <a:ext cx="1325880" cy="0"/>
          </a:xfrm>
          <a:prstGeom prst="line">
            <a:avLst/>
          </a:prstGeom>
          <a:noFill/>
          <a:ln w="15240">
            <a:solidFill>
              <a:srgbClr val="B8C4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29800" y="182880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829800" y="202996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Aplicação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0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374151"/>
                </a:solidFill>
              </a:rPr>
              <a:t>Resolver exercícios, laboratórios e projeto.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914400" y="516636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5BFF"/>
                </a:solidFill>
              </a:rPr>
              <a:t>A regra prática: estrutura de dados se aprende desenhando, implementando e explicando.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Ferramentas do semestre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Usaremos ferramentas próximas da rotina profissional de tecnologia.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64008" cy="1143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21992"/>
            <a:ext cx="28072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Implementação e experimentação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64008" cy="11430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856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221992"/>
            <a:ext cx="28072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Memória e demonstrações pontuais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321040" y="16916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321040" y="16916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549640" y="18562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VS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2221992"/>
            <a:ext cx="28072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Ambiente de desenvolvimento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22960" y="3383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22960" y="338328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5156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913632"/>
            <a:ext cx="28072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Versionamento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572000" y="3383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72000" y="3383280"/>
            <a:ext cx="64008" cy="1143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0060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GitHub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913632"/>
            <a:ext cx="28072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Compartilhamento e entregas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321040" y="3383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321040" y="3383280"/>
            <a:ext cx="64008" cy="1143000"/>
          </a:xfrm>
          <a:prstGeom prst="rect">
            <a:avLst/>
          </a:prstGeom>
          <a:solidFill>
            <a:srgbClr val="B30D0D"/>
          </a:solidFill>
          <a:ln w="12700">
            <a:solidFill>
              <a:srgbClr val="B30D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549640" y="35478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49640" y="3913632"/>
            <a:ext cx="28072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Apoio ao estudo, com responsabilidade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A ferramenta não substitui raciocínio. O aluno deve conseguir explicar o que entregou.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Uso responsável de IA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Ferramentas de IA podem apoiar, mas não substituem aprendizagem.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68680" y="1737360"/>
            <a:ext cx="64008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Pode ajudar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89864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Gerar exemplos, explicar erros, sugerir testes, revisar código, propor exercícios e comparar soluções.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480560" y="1737360"/>
            <a:ext cx="64008" cy="2057400"/>
          </a:xfrm>
          <a:prstGeom prst="rect">
            <a:avLst/>
          </a:prstGeom>
          <a:solidFill>
            <a:srgbClr val="B30D0D"/>
          </a:solidFill>
          <a:ln w="12700">
            <a:solidFill>
              <a:srgbClr val="B30D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0916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Não pode virar atalho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267712"/>
            <a:ext cx="289864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Entregar código sem entender, copiar solução pronta, não testar, não saber explicar o raciocínio.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92440" y="17373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092440" y="1737360"/>
            <a:ext cx="64008" cy="20574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32104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Critério simples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267712"/>
            <a:ext cx="289864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Se você não consegue explicar, depurar e adaptar, então ainda não aprendeu.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</a:rPr>
              <a:t>IA é copiloto. O piloto continua sendo você.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Projeto Integrador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Aplicar as estruturas de dados em um problema prático.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64008" cy="16002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Objetivo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30552"/>
            <a:ext cx="29443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Construir uma solução em grupo que use as estruturas estudadas ao longo do semestre.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434840" y="1600200"/>
            <a:ext cx="64008" cy="1600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1764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Evolução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130552"/>
            <a:ext cx="29443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O projeto deve amadurecer conforme novas estruturas forem apresentadas.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75320" y="1764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Apresentação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130552"/>
            <a:ext cx="29443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25/nov: apresentação dos grupos e avaliação do trabalho.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</a:rPr>
              <a:t>Critérios que serão valorizados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389120"/>
            <a:ext cx="96012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374151"/>
                </a:solidFill>
              </a:rPr>
              <a:t>clareza do problema
</a:t>
            </a:r>
            <a:endParaRPr lang="en-US" sz="1600" dirty="0"/>
          </a:p>
          <a:p>
            <a:r>
              <a:rPr lang="en-US" sz="1600" dirty="0">
                <a:solidFill>
                  <a:srgbClr val="374151"/>
                </a:solidFill>
              </a:rPr>
              <a:t>uso adequado das estruturas
</a:t>
            </a:r>
            <a:endParaRPr lang="en-US" sz="1600" dirty="0"/>
          </a:p>
          <a:p>
            <a:r>
              <a:rPr lang="en-US" sz="1600" dirty="0">
                <a:solidFill>
                  <a:srgbClr val="374151"/>
                </a:solidFill>
              </a:rPr>
              <a:t>organização do código
</a:t>
            </a:r>
            <a:endParaRPr lang="en-US" sz="1600" dirty="0"/>
          </a:p>
          <a:p>
            <a:r>
              <a:rPr lang="en-US" sz="1600" dirty="0">
                <a:solidFill>
                  <a:srgbClr val="374151"/>
                </a:solidFill>
              </a:rPr>
              <a:t>testes e demonstração
</a:t>
            </a:r>
            <a:endParaRPr lang="en-US" sz="1600" dirty="0"/>
          </a:p>
          <a:p>
            <a:r>
              <a:rPr lang="en-US" sz="1600" dirty="0">
                <a:solidFill>
                  <a:srgbClr val="374151"/>
                </a:solidFill>
              </a:rPr>
              <a:t>explicação técnica do grupo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Bibliografia e materiais de apoio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As leituras orientam a base conceitual e técnica da disciplina.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64008" cy="128016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Plano de Ensino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21992"/>
            <a:ext cx="28529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Documento-base da disciplina e referência para regras, cronograma e avaliação.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64008" cy="12801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1856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Edelweiss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221992"/>
            <a:ext cx="28529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Fundamentos, TAD, memória e tabelas hash.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046720" y="1691640"/>
            <a:ext cx="6400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75320" y="1856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Koffman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21992"/>
            <a:ext cx="28529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Estruturas lineares, pilhas, filas e aplicações.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468880" y="352044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468880" y="352044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697480" y="3685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Pereira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4050792"/>
            <a:ext cx="28529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Recursividade, alocação dinâmica, listas e árvores.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446520" y="352044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446520" y="3520440"/>
            <a:ext cx="64008" cy="12801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675120" y="3685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Material complementar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050792"/>
            <a:ext cx="28529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Busca, ordenação, exercícios e exemplos práticos.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Como estudar Estruturas de Dados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O estudo precisa alternar teoria, desenho, implementação e explicação.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68680" y="169164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64008" cy="219456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1856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Desenhe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21992"/>
            <a:ext cx="152704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Antes de codar, desenhe nós, ponteiros, posições e operações.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108960" y="169164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108960" y="1691640"/>
            <a:ext cx="64008" cy="21945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37560" y="1856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Simule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221992"/>
            <a:ext cx="152704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Faça pequenos testes manuais com poucos elementos.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349240" y="169164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349240" y="1691640"/>
            <a:ext cx="64008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577840" y="1856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Implemente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221992"/>
            <a:ext cx="152704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Comece simples e evolua aos poucos.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589520" y="169164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589520" y="1691640"/>
            <a:ext cx="6400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818120" y="1856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Depure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2221992"/>
            <a:ext cx="152704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Leia o estado da estrutura a cada operação.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829800" y="169164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829800" y="1691640"/>
            <a:ext cx="64008" cy="2194560"/>
          </a:xfrm>
          <a:prstGeom prst="rect">
            <a:avLst/>
          </a:prstGeom>
          <a:solidFill>
            <a:srgbClr val="B30D0D"/>
          </a:solidFill>
          <a:ln w="12700">
            <a:solidFill>
              <a:srgbClr val="B30D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058400" y="1856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Explique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0" y="2221992"/>
            <a:ext cx="152704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Se conseguir ensinar, consolidou o conceito.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Rotina sugerida: 20 minutos de revisão + 40 minutos de prática após cada aula.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Diagnóstico e formação dos grupos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 organização dos grupos começa na primeira aula.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68680" y="1645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68680" y="1645920"/>
            <a:ext cx="64008" cy="201168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Diagnóstico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76272"/>
            <a:ext cx="299008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Vamos levantar experiência com Python, C, Git, lógica, expectativas e disponibilidade.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645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434840" y="1645920"/>
            <a:ext cx="64008" cy="2011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Grupos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176272"/>
            <a:ext cx="299008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Preferência por grupos equilibrados, com diversidade de conhecimento e participação.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01000" y="16459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001000" y="1645920"/>
            <a:ext cx="64008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29600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Acordo de trabalho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2176272"/>
            <a:ext cx="299008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Compromisso com entregas, comunicação, versionamento e divisão justa de tarefas.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926080" y="4617720"/>
            <a:ext cx="6309360" cy="685800"/>
          </a:xfrm>
          <a:prstGeom prst="roundRect">
            <a:avLst>
              <a:gd name="adj" fmla="val 13333"/>
            </a:avLst>
          </a:prstGeom>
          <a:solidFill>
            <a:srgbClr val="F3F7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63240" y="486460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</a:rPr>
              <a:t>Espaço para QR Code ou link do formulário diagnóstico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235440" y="182880"/>
            <a:ext cx="2240280" cy="22402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2F80ED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Próxima aula - 12/ago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Fundamentos da Disciplina.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108813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68680" y="1737360"/>
            <a:ext cx="64008" cy="169164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85292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Introdução às Estruturas de Dados e aplicações no mercado.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434840" y="1737360"/>
            <a:ext cx="64008" cy="16916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Ambiente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267712"/>
            <a:ext cx="285292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Python/C, VS Code, Git e organização do projeto.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01000" y="173736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001000" y="173736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29600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Preparação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2267712"/>
            <a:ext cx="285292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</a:rPr>
              <a:t>Trazer notebook quando possível e revisar noções básicas de lógica.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</a:rPr>
              <a:t>A partir da próxima aula, começamos a transformar conceito em código.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321040" y="228600"/>
            <a:ext cx="3017520" cy="3017520"/>
          </a:xfrm>
          <a:prstGeom prst="arc">
            <a:avLst/>
          </a:prstGeom>
          <a:solidFill>
            <a:srgbClr val="0B1F3A">
              <a:alpha val="0"/>
            </a:srgbClr>
          </a:solidFill>
          <a:ln w="25400">
            <a:solidFill>
              <a:srgbClr val="2F80E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778240" y="3703320"/>
            <a:ext cx="2560320" cy="2560320"/>
          </a:xfrm>
          <a:prstGeom prst="arc">
            <a:avLst/>
          </a:prstGeom>
          <a:solidFill>
            <a:srgbClr val="0B1F3A">
              <a:alpha val="0"/>
            </a:srgbClr>
          </a:solidFill>
          <a:ln w="25400">
            <a:solidFill>
              <a:srgbClr val="00B8D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FATEC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Perguntas?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7FF"/>
                </a:solidFill>
              </a:rPr>
              <a:t>Aula inaugural - Estruturas de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52120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8D9"/>
                </a:solidFill>
              </a:rPr>
              <a:t>Próximo encontro: Fundamentos da Disciplina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75120" y="1280160"/>
            <a:ext cx="502920" cy="502920"/>
          </a:xfrm>
          <a:prstGeom prst="ellipse">
            <a:avLst/>
          </a:prstGeom>
          <a:solidFill>
            <a:srgbClr val="2F80ED">
              <a:alpha val="82000"/>
            </a:srgbClr>
          </a:solidFill>
          <a:ln w="12700">
            <a:solidFill>
              <a:srgbClr val="A7D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178040" y="1536192"/>
            <a:ext cx="594360" cy="0"/>
          </a:xfrm>
          <a:prstGeom prst="line">
            <a:avLst/>
          </a:prstGeom>
          <a:noFill/>
          <a:ln w="12700">
            <a:solidFill>
              <a:srgbClr val="7EB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772400" y="1280160"/>
            <a:ext cx="502920" cy="502920"/>
          </a:xfrm>
          <a:prstGeom prst="ellipse">
            <a:avLst/>
          </a:prstGeom>
          <a:solidFill>
            <a:srgbClr val="00B8D9">
              <a:alpha val="82000"/>
            </a:srgbClr>
          </a:solidFill>
          <a:ln w="12700">
            <a:solidFill>
              <a:srgbClr val="A7D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275320" y="1536192"/>
            <a:ext cx="594360" cy="0"/>
          </a:xfrm>
          <a:prstGeom prst="line">
            <a:avLst/>
          </a:prstGeom>
          <a:noFill/>
          <a:ln w="12700">
            <a:solidFill>
              <a:srgbClr val="7EB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869680" y="1280160"/>
            <a:ext cx="502920" cy="502920"/>
          </a:xfrm>
          <a:prstGeom prst="ellipse">
            <a:avLst/>
          </a:prstGeom>
          <a:solidFill>
            <a:srgbClr val="2F80ED">
              <a:alpha val="82000"/>
            </a:srgbClr>
          </a:solidFill>
          <a:ln w="12700">
            <a:solidFill>
              <a:srgbClr val="A7D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372600" y="1536192"/>
            <a:ext cx="594360" cy="777240"/>
          </a:xfrm>
          <a:prstGeom prst="line">
            <a:avLst/>
          </a:prstGeom>
          <a:noFill/>
          <a:ln w="12700">
            <a:solidFill>
              <a:srgbClr val="7EB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675120" y="2286000"/>
            <a:ext cx="502920" cy="502920"/>
          </a:xfrm>
          <a:prstGeom prst="ellipse">
            <a:avLst/>
          </a:prstGeom>
          <a:solidFill>
            <a:srgbClr val="00B8D9">
              <a:alpha val="82000"/>
            </a:srgbClr>
          </a:solidFill>
          <a:ln w="12700">
            <a:solidFill>
              <a:srgbClr val="A7D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178040" y="2542032"/>
            <a:ext cx="594360" cy="0"/>
          </a:xfrm>
          <a:prstGeom prst="line">
            <a:avLst/>
          </a:prstGeom>
          <a:noFill/>
          <a:ln w="12700">
            <a:solidFill>
              <a:srgbClr val="7EB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0" y="2286000"/>
            <a:ext cx="502920" cy="502920"/>
          </a:xfrm>
          <a:prstGeom prst="ellipse">
            <a:avLst/>
          </a:prstGeom>
          <a:solidFill>
            <a:srgbClr val="2F80ED">
              <a:alpha val="82000"/>
            </a:srgbClr>
          </a:solidFill>
          <a:ln w="12700">
            <a:solidFill>
              <a:srgbClr val="A7D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275320" y="2542032"/>
            <a:ext cx="594360" cy="0"/>
          </a:xfrm>
          <a:prstGeom prst="line">
            <a:avLst/>
          </a:prstGeom>
          <a:noFill/>
          <a:ln w="12700">
            <a:solidFill>
              <a:srgbClr val="7EB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869680" y="2286000"/>
            <a:ext cx="502920" cy="502920"/>
          </a:xfrm>
          <a:prstGeom prst="ellipse">
            <a:avLst/>
          </a:prstGeom>
          <a:solidFill>
            <a:srgbClr val="00B8D9">
              <a:alpha val="82000"/>
            </a:srgbClr>
          </a:solidFill>
          <a:ln w="12700">
            <a:solidFill>
              <a:srgbClr val="A7D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72600" y="2542032"/>
            <a:ext cx="594360" cy="777240"/>
          </a:xfrm>
          <a:prstGeom prst="line">
            <a:avLst/>
          </a:prstGeom>
          <a:noFill/>
          <a:ln w="12700">
            <a:solidFill>
              <a:srgbClr val="7EB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675120" y="3291840"/>
            <a:ext cx="502920" cy="502920"/>
          </a:xfrm>
          <a:prstGeom prst="ellipse">
            <a:avLst/>
          </a:prstGeom>
          <a:solidFill>
            <a:srgbClr val="2F80ED">
              <a:alpha val="82000"/>
            </a:srgbClr>
          </a:solidFill>
          <a:ln w="12700">
            <a:solidFill>
              <a:srgbClr val="A7D8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5A3"/>
                </a:solidFill>
              </a:rPr>
              <a:t>FATEC | Informática para Negócios | Estruturas de Dados - IED001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95A3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2189</Words>
  <Application>Microsoft Office PowerPoint</Application>
  <PresentationFormat>Widescreen</PresentationFormat>
  <Paragraphs>357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FATEC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Dados - Aula Inaugural</dc:title>
  <dc:subject>Aula inaugural - Estruturas de Dados</dc:subject>
  <dc:creator>Lucas Bonilha Henrique</dc:creator>
  <cp:lastModifiedBy>Lucas B. Henrique</cp:lastModifiedBy>
  <cp:revision>2</cp:revision>
  <dcterms:created xsi:type="dcterms:W3CDTF">2026-08-05T05:31:27Z</dcterms:created>
  <dcterms:modified xsi:type="dcterms:W3CDTF">2026-08-05T06:26:34Z</dcterms:modified>
</cp:coreProperties>
</file>