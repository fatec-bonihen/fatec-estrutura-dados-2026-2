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E1B9FEE-4DC8-4575-834A-A5BBE641695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Abra com a pergunta: 'Como uma escolha de organização muda o trabalho do sistema?'. Não apresente definições ainda.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Apresente os quatro movimentos. Informe que haverá prática e que TAD será apenas a ponte final.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Peça exemplos da Aula 01. Registre apenas palavras-chave. Reforce que hoje a pergunta muda de 'quais estruturas existem?' para 'por que organizar assim?'.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Leia o cenário e faça votação rápida: sequência, consulta por código ou prioridade? Aceite respostas diversas; a falta de uma resposta única é intencional.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Peça que a turma ordene as operações por frequência e urgência. Mostre que requisitos operacionais antecedem a escolha da estrutura.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Construa da esquerda para a direita. Dê tempo para a turma explicar o que cada camada acrescenta.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Use a definição como síntese, não como ponto de partida. Peça um exemplo de relação ou posição que precise ser preservada.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Apresente os três desenhos e pergunte que operação cada um favorece. Evite nomear implementações futuras.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Espere respostas. A conclusão é 'depende das operações, frequência e restrições'. Peça que completem a frase em voz alta.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Use exemplos próximos a negócios. Os nomes funcionam como mapa, sem implementação. Não transforme a enumeração em conteúdo formal.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Percorra a trilha sem explicar as implementações. Destaque a posição atual e a próxima aula.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Reforce que a regra da fila independe da linguagem. Não formalize TAD; apenas prepare a distinção.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Simule a busca com o dedo ou destaque cada caixa. Conte comparações para 101, 103 e 999.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Não desenvolva Big-O. Se surgir, diga que é o vocabulário futuro para descrever crescimento. Mantenha foco em percursos.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Execute ou leia o trecho. Pergunte o que append e pop escondem. Evite dizer que Python não usa memória ou que a operação é 'grátis'.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Mostre capacidade versus quantidade. Pergunte o que acontece ao remover o índice 0. Não avance para ponteiros complexos.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Peça que a turma indique o que muda e o que permanece. A regra de negócio permanece; detalhes da implementação mudam.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Use o fluxo para corrigir a ideia de que salvar, add, commit e push são equivalentes.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Demonstre git status se houver ambiente preparado. Não faça commit ou push. Pergunte qual comando apenas inspeciona o estado.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Explique o papel de cada pasta. Reforce: grupos e papéis já existem; o escopo será definido com a turma.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Faça a checagem em até cinco minutos. Ausência de ferramenta seleciona o cenário; não instale nem configure compiladores durante a aula.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Escolha somente um cenário. Em todos, mantenha desenho, previsão, observação e explicação.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 não houver execução, faça a turma prever 1, 3 e 3 comparações e desenhar o deslocamento após cancelar 102.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360000" y="360000"/>
            <a:ext cx="90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Os grupos apenas compreendem o setup. Não defina tema ou escopo. Commit/push somente em ambiente orientado pelo docente.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Explique que backlog registra necessidades, é priorizado e evolui. O exemplo é genérico e não define o Projeto Integrador.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Leia prioridades como ordenação inicial, não como promessa fixa. Peça qual item poderia mudar de prioridade e por quê.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Destaque usuário, necessidade e benefício. Não peça critérios de aceite nesta aula.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Não abra discussão de temas. Informe apenas organização existente, tratamento separado do escopo e cadência incremental.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Peça que alunos completem oralmente. Use os inícios como avaliação formativa.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Não formalize TAD. Relacione a distinção necessidade/decisão com comportamento/implementação.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360000" y="360000"/>
            <a:ext cx="90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NOTA DO APRESENTADOR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Retome a pergunta-guia, confirme a atividade assíncrona conforme o cenário e abra para dúvidas.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B883B-3D58-4ABF-B78E-58BEDC9DF3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9FB532-68D0-4712-A072-1120F41105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7099E7E-A90F-4415-B5C1-EE3B0E2D210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01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76000" y="486000"/>
            <a:ext cx="3240000" cy="363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500" spc="-1" strike="noStrike">
                <a:solidFill>
                  <a:srgbClr val="2cb1bc"/>
                </a:solidFill>
                <a:latin typeface="Inter"/>
              </a:rPr>
              <a:t>AULA 02</a:t>
            </a:r>
            <a:endParaRPr b="1" lang="en-US" sz="15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76000" y="1080000"/>
            <a:ext cx="8280000" cy="15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Fundamentos da</a:t>
            </a:r>
            <a:endParaRPr b="1" lang="en-US" sz="4000" spc="-1" strike="noStrike">
              <a:solidFill>
                <a:srgbClr val="ffffff"/>
              </a:solidFill>
              <a:latin typeface="Inter"/>
            </a:endParaRPr>
          </a:p>
          <a:p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Disciplina</a:t>
            </a:r>
            <a:endParaRPr b="1" lang="en-US" sz="4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30000" y="2844000"/>
            <a:ext cx="9720000" cy="47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100" spc="-1" strike="noStrike">
                <a:solidFill>
                  <a:srgbClr val="d7e8f0"/>
                </a:solidFill>
                <a:latin typeface="Inter"/>
              </a:rPr>
              <a:t>Do problema real à escolha da organização dos dados</a:t>
            </a:r>
            <a:endParaRPr b="0" lang="en-US" sz="2100" spc="-1" strike="noStrike">
              <a:solidFill>
                <a:srgbClr val="d7e8f0"/>
              </a:solidFill>
              <a:latin typeface="Inter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30000" y="3996000"/>
            <a:ext cx="2484000" cy="4716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102a43"/>
                </a:solidFill>
                <a:latin typeface="Inter"/>
              </a:rPr>
              <a:t>DADOS</a:t>
            </a:r>
            <a:endParaRPr b="1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582000" y="3996000"/>
            <a:ext cx="2484000" cy="471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102a43"/>
                </a:solidFill>
                <a:latin typeface="Inter"/>
              </a:rPr>
              <a:t>OPERAÇÕES</a:t>
            </a:r>
            <a:endParaRPr b="1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534000" y="3996000"/>
            <a:ext cx="2484000" cy="4716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102a43"/>
                </a:solidFill>
                <a:latin typeface="Inter"/>
              </a:rPr>
              <a:t>ESCOLHAS</a:t>
            </a:r>
            <a:endParaRPr b="1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30000" y="5364000"/>
            <a:ext cx="6480000" cy="3297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300" spc="-1" strike="noStrike">
                <a:solidFill>
                  <a:srgbClr val="b8cfdb"/>
                </a:solidFill>
                <a:latin typeface="Inter"/>
              </a:rPr>
              <a:t>12 de agosto de 2026 • 4 períodos</a:t>
            </a:r>
            <a:endParaRPr b="0" lang="en-US" sz="1300" spc="-1" strike="noStrike">
              <a:solidFill>
                <a:srgbClr val="b8cfdb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ROTA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Agenda da aula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9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02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2" name=""/>
          <p:cNvSpPr/>
          <p:nvPr/>
        </p:nvSpPr>
        <p:spPr>
          <a:xfrm>
            <a:off x="648000" y="1314000"/>
            <a:ext cx="450000" cy="450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01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332000" y="1296000"/>
            <a:ext cx="39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Problema e fundamentos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332000" y="1584000"/>
            <a:ext cx="7200000" cy="360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500" spc="-1" strike="noStrike">
                <a:solidFill>
                  <a:srgbClr val="52667a"/>
                </a:solidFill>
                <a:latin typeface="Inter"/>
              </a:rPr>
              <a:t>dados, tipos, coleção, operações</a:t>
            </a:r>
            <a:endParaRPr b="0" lang="en-US" sz="15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5" name=""/>
          <p:cNvSpPr/>
          <p:nvPr/>
        </p:nvSpPr>
        <p:spPr>
          <a:xfrm>
            <a:off x="873000" y="1782000"/>
            <a:ext cx="0" cy="540000"/>
          </a:xfrm>
          <a:prstGeom prst="line">
            <a:avLst/>
          </a:prstGeom>
          <a:ln w="10800">
            <a:solidFill>
              <a:srgbClr val="aac1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50400" bIns="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48000" y="2394000"/>
            <a:ext cx="450000" cy="450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02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332000" y="2376000"/>
            <a:ext cx="39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Organização e escolhas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332000" y="2664000"/>
            <a:ext cx="7200000" cy="360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500" spc="-1" strike="noStrike">
                <a:solidFill>
                  <a:srgbClr val="52667a"/>
                </a:solidFill>
                <a:latin typeface="Inter"/>
              </a:rPr>
              <a:t>mercado, mapa, eficiência intuitiva</a:t>
            </a:r>
            <a:endParaRPr b="0" lang="en-US" sz="15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9" name=""/>
          <p:cNvSpPr/>
          <p:nvPr/>
        </p:nvSpPr>
        <p:spPr>
          <a:xfrm>
            <a:off x="873000" y="2862000"/>
            <a:ext cx="0" cy="540000"/>
          </a:xfrm>
          <a:prstGeom prst="line">
            <a:avLst/>
          </a:prstGeom>
          <a:ln w="10800">
            <a:solidFill>
              <a:srgbClr val="aac1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50400" bIns="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48000" y="3474000"/>
            <a:ext cx="450000" cy="450000"/>
          </a:xfrm>
          <a:prstGeom prst="ellipse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03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332000" y="3456000"/>
            <a:ext cx="39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Ambiente e versionamento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332000" y="3744000"/>
            <a:ext cx="7200000" cy="360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500" spc="-1" strike="noStrike">
                <a:solidFill>
                  <a:srgbClr val="52667a"/>
                </a:solidFill>
                <a:latin typeface="Inter"/>
              </a:rPr>
              <a:t>cenários adaptativos, Git e setup</a:t>
            </a:r>
            <a:endParaRPr b="0" lang="en-US" sz="15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3" name=""/>
          <p:cNvSpPr/>
          <p:nvPr/>
        </p:nvSpPr>
        <p:spPr>
          <a:xfrm>
            <a:off x="873000" y="3942000"/>
            <a:ext cx="0" cy="540000"/>
          </a:xfrm>
          <a:prstGeom prst="line">
            <a:avLst/>
          </a:prstGeom>
          <a:ln w="10800">
            <a:solidFill>
              <a:srgbClr val="aac1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rIns="95400" tIns="50400" bIns="50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48000" y="4554000"/>
            <a:ext cx="450000" cy="450000"/>
          </a:xfrm>
          <a:prstGeom prst="ellipse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04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332000" y="4536000"/>
            <a:ext cx="39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Backlog e síntese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332000" y="4824000"/>
            <a:ext cx="7200000" cy="360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500" spc="-1" strike="noStrike">
                <a:solidFill>
                  <a:srgbClr val="52667a"/>
                </a:solidFill>
                <a:latin typeface="Inter"/>
              </a:rPr>
              <a:t>necessidades, histórias e preparação para TAD</a:t>
            </a:r>
            <a:endParaRPr b="0" lang="en-US" sz="1500" spc="-1" strike="noStrike">
              <a:solidFill>
                <a:srgbClr val="52667a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RETOMADA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O que já sabemos?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50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03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12000" y="1404000"/>
            <a:ext cx="2340000" cy="3754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600" spc="-1" strike="noStrike">
                <a:solidFill>
                  <a:srgbClr val="176b87"/>
                </a:solidFill>
                <a:latin typeface="Inter"/>
              </a:rPr>
              <a:t>Aula 01</a:t>
            </a:r>
            <a:endParaRPr b="1" lang="en-US" sz="16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12000" y="1764000"/>
            <a:ext cx="3780000" cy="9594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700" spc="-1" strike="noStrike">
                <a:solidFill>
                  <a:srgbClr val="102a43"/>
                </a:solidFill>
                <a:latin typeface="Inter"/>
              </a:rPr>
              <a:t>Estruturas aparecem</a:t>
            </a:r>
            <a:endParaRPr b="1" lang="en-US" sz="2700" spc="-1" strike="noStrike">
              <a:solidFill>
                <a:srgbClr val="102a43"/>
              </a:solidFill>
              <a:latin typeface="Inter"/>
            </a:endParaRPr>
          </a:p>
          <a:p>
            <a:r>
              <a:rPr b="1" lang="en-US" sz="2700" spc="-1" strike="noStrike">
                <a:solidFill>
                  <a:srgbClr val="102a43"/>
                </a:solidFill>
                <a:latin typeface="Inter"/>
              </a:rPr>
              <a:t>em problemas reais</a:t>
            </a:r>
            <a:endParaRPr b="1" lang="en-US" sz="27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55" name=""/>
          <p:cNvSpPr/>
          <p:nvPr/>
        </p:nvSpPr>
        <p:spPr>
          <a:xfrm>
            <a:off x="4968000" y="1404000"/>
            <a:ext cx="0" cy="3528000"/>
          </a:xfrm>
          <a:prstGeom prst="line">
            <a:avLst/>
          </a:prstGeom>
          <a:ln w="16200">
            <a:solidFill>
              <a:srgbClr val="b9c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688000" y="1404000"/>
            <a:ext cx="2340000" cy="3754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600" spc="-1" strike="noStrike">
                <a:solidFill>
                  <a:srgbClr val="2d8a64"/>
                </a:solidFill>
                <a:latin typeface="Inter"/>
              </a:rPr>
              <a:t>Hoje</a:t>
            </a:r>
            <a:endParaRPr b="1" lang="en-US" sz="1600" spc="-1" strike="noStrike">
              <a:solidFill>
                <a:srgbClr val="2d8a64"/>
              </a:solidFill>
              <a:latin typeface="Inter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688000" y="1764000"/>
            <a:ext cx="4860000" cy="9594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700" spc="-1" strike="noStrike">
                <a:solidFill>
                  <a:srgbClr val="102a43"/>
                </a:solidFill>
                <a:latin typeface="Inter"/>
              </a:rPr>
              <a:t>Vamos justificar</a:t>
            </a:r>
            <a:endParaRPr b="1" lang="en-US" sz="2700" spc="-1" strike="noStrike">
              <a:solidFill>
                <a:srgbClr val="102a43"/>
              </a:solidFill>
              <a:latin typeface="Inter"/>
            </a:endParaRPr>
          </a:p>
          <a:p>
            <a:r>
              <a:rPr b="1" lang="en-US" sz="2700" spc="-1" strike="noStrike">
                <a:solidFill>
                  <a:srgbClr val="102a43"/>
                </a:solidFill>
                <a:latin typeface="Inter"/>
              </a:rPr>
              <a:t>como organizar</a:t>
            </a:r>
            <a:endParaRPr b="1" lang="en-US" sz="27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76000" y="3420000"/>
            <a:ext cx="2376000" cy="453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Inter"/>
              </a:rPr>
              <a:t>Desenhar</a:t>
            </a:r>
            <a:endParaRPr b="1" lang="en-US" sz="16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240000" y="3420000"/>
            <a:ext cx="2376000" cy="4536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Inter"/>
              </a:rPr>
              <a:t>Implementar</a:t>
            </a:r>
            <a:endParaRPr b="1" lang="en-US" sz="16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904000" y="3420000"/>
            <a:ext cx="2376000" cy="453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Inter"/>
              </a:rPr>
              <a:t>Depurar</a:t>
            </a:r>
            <a:endParaRPr b="1" lang="en-US" sz="16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568000" y="3420000"/>
            <a:ext cx="2376000" cy="4536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Inter"/>
              </a:rPr>
              <a:t>Explicar</a:t>
            </a:r>
            <a:endParaRPr b="1" lang="en-US" sz="1600" spc="-1" strike="noStrike">
              <a:solidFill>
                <a:srgbClr val="ffffff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2cb1bc"/>
                </a:solidFill>
                <a:latin typeface="Inter"/>
              </a:rPr>
              <a:t>CENTRAL DE PEDIDOS</a:t>
            </a:r>
            <a:endParaRPr b="1" lang="en-US" sz="11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Pergunta-problema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65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04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12000" y="1296000"/>
            <a:ext cx="504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2cb1bc"/>
                </a:solidFill>
                <a:latin typeface="Inter"/>
              </a:rPr>
              <a:t>Uma central precisa...</a:t>
            </a:r>
            <a:endParaRPr b="1" lang="en-US" sz="18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84000" y="1800000"/>
            <a:ext cx="48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registrar</a:t>
            </a:r>
            <a:endParaRPr b="0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84000" y="2340000"/>
            <a:ext cx="48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localizar por código</a:t>
            </a:r>
            <a:endParaRPr b="0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4000" y="2880000"/>
            <a:ext cx="48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processar o próximo</a:t>
            </a:r>
            <a:endParaRPr b="0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84000" y="3420000"/>
            <a:ext cx="48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cancelar</a:t>
            </a:r>
            <a:endParaRPr b="0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84000" y="3960000"/>
            <a:ext cx="486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Inter"/>
              </a:rPr>
              <a:t>preservar chegada</a:t>
            </a:r>
            <a:endParaRPr b="0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74" name=""/>
          <p:cNvSpPr/>
          <p:nvPr/>
        </p:nvSpPr>
        <p:spPr>
          <a:xfrm>
            <a:off x="6624000" y="1404000"/>
            <a:ext cx="4608000" cy="3348000"/>
          </a:xfrm>
          <a:prstGeom prst="rect">
            <a:avLst/>
          </a:prstGeom>
          <a:solidFill>
            <a:srgbClr val="173b56"/>
          </a:solidFill>
          <a:ln w="12600">
            <a:solidFill>
              <a:srgbClr val="5c8297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56000" y="1800000"/>
            <a:ext cx="3600000" cy="402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101  Ana     normal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056000" y="2484000"/>
            <a:ext cx="3600000" cy="402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900" spc="-1" strike="noStrike">
                <a:solidFill>
                  <a:srgbClr val="f2b134"/>
                </a:solidFill>
                <a:latin typeface="Courier New"/>
              </a:rPr>
              <a:t>102  Bruno   alta</a:t>
            </a:r>
            <a:endParaRPr b="1" lang="en-US" sz="1900" spc="-1" strike="noStrike">
              <a:solidFill>
                <a:srgbClr val="f2b134"/>
              </a:solidFill>
              <a:latin typeface="Courier New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056000" y="3168000"/>
            <a:ext cx="3600000" cy="402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103  Carla   normal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056000" y="4068000"/>
            <a:ext cx="3600000" cy="4377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000" spc="-1" strike="noStrike">
                <a:solidFill>
                  <a:srgbClr val="2cb1bc"/>
                </a:solidFill>
                <a:latin typeface="Inter"/>
              </a:rPr>
              <a:t>Como você guardaria?</a:t>
            </a:r>
            <a:endParaRPr b="1" lang="en-US" sz="2000" spc="-1" strike="noStrike">
              <a:solidFill>
                <a:srgbClr val="2cb1bc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PERGUNTA-CHAVE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Antes do código: operações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82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05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12000" y="1368000"/>
            <a:ext cx="10080000" cy="6055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100" spc="-1" strike="noStrike">
                <a:solidFill>
                  <a:srgbClr val="102a43"/>
                </a:solidFill>
                <a:latin typeface="Inter"/>
              </a:rPr>
              <a:t>Não comece pela estrutura.</a:t>
            </a:r>
            <a:endParaRPr b="1" lang="en-US" sz="3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12000" y="1800000"/>
            <a:ext cx="10440000" cy="4377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Comece perguntando o que o sistema precisa fazer.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12000" y="2808000"/>
            <a:ext cx="3168000" cy="543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INSERIR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248000" y="2808000"/>
            <a:ext cx="3168000" cy="5436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BUSCAR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884000" y="2808000"/>
            <a:ext cx="3168000" cy="543600"/>
          </a:xfrm>
          <a:prstGeom prst="rect">
            <a:avLst/>
          </a:prstGeom>
          <a:solidFill>
            <a:srgbClr val="c84b31"/>
          </a:solidFill>
          <a:ln w="12600">
            <a:solidFill>
              <a:srgbClr val="c84b3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REMOVER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12000" y="3888000"/>
            <a:ext cx="3168000" cy="5436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PERCORRER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248000" y="3888000"/>
            <a:ext cx="3168000" cy="543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ORDENAR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248000" y="4932000"/>
            <a:ext cx="5400000" cy="4212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900" spc="-1" strike="noStrike">
                <a:solidFill>
                  <a:srgbClr val="102a43"/>
                </a:solidFill>
                <a:latin typeface="Inter"/>
              </a:rPr>
              <a:t>Qual delas precisa ser rápida?</a:t>
            </a:r>
            <a:endParaRPr b="1" lang="en-US" sz="19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VOCABULÁRIO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Dado × tipo × registro × coleção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96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06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60000" y="1512000"/>
            <a:ext cx="2664000" cy="3146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200" spc="-1" strike="noStrike">
                <a:solidFill>
                  <a:srgbClr val="176b87"/>
                </a:solidFill>
                <a:latin typeface="Inter"/>
              </a:rPr>
              <a:t>DADO</a:t>
            </a:r>
            <a:endParaRPr b="1" lang="en-US" sz="12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60000" y="1908000"/>
            <a:ext cx="2664000" cy="133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ccd8d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200" spc="-1" strike="noStrike">
                <a:solidFill>
                  <a:srgbClr val="102a43"/>
                </a:solidFill>
                <a:latin typeface="Inter"/>
              </a:rPr>
              <a:t>103</a:t>
            </a:r>
            <a:endParaRPr b="1" lang="en-US" sz="22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988000" y="2250000"/>
            <a:ext cx="360000" cy="514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500" spc="-1" strike="noStrike">
                <a:solidFill>
                  <a:srgbClr val="52667a"/>
                </a:solidFill>
                <a:latin typeface="Inter"/>
              </a:rPr>
              <a:t>→</a:t>
            </a:r>
            <a:endParaRPr b="1" lang="en-US" sz="25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312000" y="1512000"/>
            <a:ext cx="2664000" cy="3146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200" spc="-1" strike="noStrike">
                <a:solidFill>
                  <a:srgbClr val="2cb1bc"/>
                </a:solidFill>
                <a:latin typeface="Inter"/>
              </a:rPr>
              <a:t>TIPO</a:t>
            </a:r>
            <a:endParaRPr b="1" lang="en-US" sz="12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312000" y="1908000"/>
            <a:ext cx="2664000" cy="133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ccd8d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200" spc="-1" strike="noStrike">
                <a:solidFill>
                  <a:srgbClr val="102a43"/>
                </a:solidFill>
                <a:latin typeface="Inter"/>
              </a:rPr>
              <a:t>inteiro</a:t>
            </a:r>
            <a:endParaRPr b="1" lang="en-US" sz="22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940000" y="2250000"/>
            <a:ext cx="360000" cy="514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500" spc="-1" strike="noStrike">
                <a:solidFill>
                  <a:srgbClr val="52667a"/>
                </a:solidFill>
                <a:latin typeface="Inter"/>
              </a:rPr>
              <a:t>→</a:t>
            </a:r>
            <a:endParaRPr b="1" lang="en-US" sz="25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264000" y="1512000"/>
            <a:ext cx="2664000" cy="3146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200" spc="-1" strike="noStrike">
                <a:solidFill>
                  <a:srgbClr val="f2b134"/>
                </a:solidFill>
                <a:latin typeface="Inter"/>
              </a:rPr>
              <a:t>REGISTRO</a:t>
            </a:r>
            <a:endParaRPr b="1" lang="en-US" sz="1200" spc="-1" strike="noStrike">
              <a:solidFill>
                <a:srgbClr val="f2b134"/>
              </a:solidFill>
              <a:latin typeface="Inter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264000" y="1908000"/>
            <a:ext cx="2664000" cy="133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ccd8d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200" spc="-1" strike="noStrike">
                <a:solidFill>
                  <a:srgbClr val="102a43"/>
                </a:solidFill>
                <a:latin typeface="Inter"/>
              </a:rPr>
              <a:t>Pedido 103</a:t>
            </a:r>
            <a:endParaRPr b="1" lang="en-US" sz="22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1" lang="en-US" sz="2200" spc="-1" strike="noStrike">
                <a:solidFill>
                  <a:srgbClr val="102a43"/>
                </a:solidFill>
                <a:latin typeface="Inter"/>
              </a:rPr>
              <a:t>Carla • R$ 19,90</a:t>
            </a:r>
            <a:endParaRPr b="1" lang="en-US" sz="22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892000" y="2250000"/>
            <a:ext cx="360000" cy="514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500" spc="-1" strike="noStrike">
                <a:solidFill>
                  <a:srgbClr val="52667a"/>
                </a:solidFill>
                <a:latin typeface="Inter"/>
              </a:rPr>
              <a:t>→</a:t>
            </a:r>
            <a:endParaRPr b="1" lang="en-US" sz="25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9216000" y="1512000"/>
            <a:ext cx="2664000" cy="3146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200" spc="-1" strike="noStrike">
                <a:solidFill>
                  <a:srgbClr val="2d8a64"/>
                </a:solidFill>
                <a:latin typeface="Inter"/>
              </a:rPr>
              <a:t>COLEÇÃO</a:t>
            </a:r>
            <a:endParaRPr b="1" lang="en-US" sz="1200" spc="-1" strike="noStrike">
              <a:solidFill>
                <a:srgbClr val="2d8a64"/>
              </a:solidFill>
              <a:latin typeface="Inter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216000" y="1908000"/>
            <a:ext cx="2664000" cy="133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ccd8d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200" spc="-1" strike="noStrike">
                <a:solidFill>
                  <a:srgbClr val="102a43"/>
                </a:solidFill>
                <a:latin typeface="Inter"/>
              </a:rPr>
              <a:t>101 • 102 • 103</a:t>
            </a:r>
            <a:endParaRPr b="1" lang="en-US" sz="22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404000" y="4032000"/>
            <a:ext cx="9360000" cy="483480"/>
          </a:xfrm>
          <a:prstGeom prst="rect">
            <a:avLst/>
          </a:prstGeom>
          <a:solidFill>
            <a:srgbClr val="dceff4"/>
          </a:solidFill>
          <a:ln w="12600">
            <a:solidFill>
              <a:srgbClr val="dceff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300" spc="-1" strike="noStrike">
                <a:solidFill>
                  <a:srgbClr val="102a43"/>
                </a:solidFill>
                <a:latin typeface="Inter"/>
              </a:rPr>
              <a:t>Cada camada acrescenta significado e regras.</a:t>
            </a:r>
            <a:endParaRPr b="1" lang="en-US" sz="23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2cb1bc"/>
                </a:solidFill>
                <a:latin typeface="Inter"/>
              </a:rPr>
              <a:t>CONCEITO</a:t>
            </a:r>
            <a:endParaRPr b="1" lang="en-US" sz="11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Estrutura de dados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14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07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56000" y="1656000"/>
            <a:ext cx="3060000" cy="43776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102a43"/>
                </a:solidFill>
                <a:latin typeface="Inter"/>
              </a:rPr>
              <a:t>Organiza</a:t>
            </a:r>
            <a:endParaRPr b="1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500000" y="1656000"/>
            <a:ext cx="3240000" cy="43776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102a43"/>
                </a:solidFill>
                <a:latin typeface="Inter"/>
              </a:rPr>
              <a:t>dados + relações</a:t>
            </a:r>
            <a:endParaRPr b="1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568000" y="1656000"/>
            <a:ext cx="2736000" cy="43776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102a43"/>
                </a:solidFill>
                <a:latin typeface="Inter"/>
              </a:rPr>
              <a:t>para realizar</a:t>
            </a:r>
            <a:endParaRPr b="1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20" name=""/>
          <p:cNvSpPr/>
          <p:nvPr/>
        </p:nvSpPr>
        <p:spPr>
          <a:xfrm>
            <a:off x="2268000" y="2160000"/>
            <a:ext cx="0" cy="792000"/>
          </a:xfrm>
          <a:prstGeom prst="line">
            <a:avLst/>
          </a:prstGeom>
          <a:ln w="18000">
            <a:solidFill>
              <a:srgbClr val="8bb1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120000" y="2160000"/>
            <a:ext cx="0" cy="792000"/>
          </a:xfrm>
          <a:prstGeom prst="line">
            <a:avLst/>
          </a:prstGeom>
          <a:ln w="18000">
            <a:solidFill>
              <a:srgbClr val="8bb1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9936000" y="2160000"/>
            <a:ext cx="0" cy="792000"/>
          </a:xfrm>
          <a:prstGeom prst="line">
            <a:avLst/>
          </a:prstGeom>
          <a:ln w="18000">
            <a:solidFill>
              <a:srgbClr val="8bb1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988000" y="3060000"/>
            <a:ext cx="6336000" cy="5796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900" spc="-1" strike="noStrike">
                <a:solidFill>
                  <a:srgbClr val="ffffff"/>
                </a:solidFill>
                <a:latin typeface="Inter"/>
              </a:rPr>
              <a:t>OPERAÇÕES</a:t>
            </a:r>
            <a:endParaRPr b="1" lang="en-US" sz="29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80000" y="4284000"/>
            <a:ext cx="10080000" cy="579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900" spc="-1" strike="noStrike">
                <a:solidFill>
                  <a:srgbClr val="d8e8f0"/>
                </a:solidFill>
                <a:latin typeface="Inter"/>
              </a:rPr>
              <a:t>A estrutura é uma decisão sobre organização — não apenas um recurso da linguagem.</a:t>
            </a:r>
            <a:endParaRPr b="0" lang="en-US" sz="1900" spc="-1" strike="noStrike">
              <a:solidFill>
                <a:srgbClr val="d8e8f0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COMPARAÇÃO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Mesmos dados, organizações diferentes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28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08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31" name=""/>
          <p:cNvSpPr/>
          <p:nvPr/>
        </p:nvSpPr>
        <p:spPr>
          <a:xfrm>
            <a:off x="468000" y="1404000"/>
            <a:ext cx="3456000" cy="349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468000" y="1404000"/>
            <a:ext cx="64800" cy="34920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30000" y="1530000"/>
            <a:ext cx="3204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SEQUÊNCIA DE CHEGADA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30000" y="1836000"/>
            <a:ext cx="3204000" cy="3009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[101] → [102] → [103]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Preserva ordem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Percorre facilmente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35" name=""/>
          <p:cNvSpPr/>
          <p:nvPr/>
        </p:nvSpPr>
        <p:spPr>
          <a:xfrm>
            <a:off x="4356000" y="1404000"/>
            <a:ext cx="3456000" cy="349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356000" y="1404000"/>
            <a:ext cx="64800" cy="34920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518000" y="1530000"/>
            <a:ext cx="3204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CONSULTA POR CÓDIGO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518000" y="1836000"/>
            <a:ext cx="3204000" cy="3009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101 → Ana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102 → Bruno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103 → Carla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Favorece a ideia de chave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39" name=""/>
          <p:cNvSpPr/>
          <p:nvPr/>
        </p:nvSpPr>
        <p:spPr>
          <a:xfrm>
            <a:off x="8244000" y="1404000"/>
            <a:ext cx="3456000" cy="3492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8244000" y="1404000"/>
            <a:ext cx="64800" cy="34920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8406000" y="1530000"/>
            <a:ext cx="3204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PRIORIDADE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406000" y="1836000"/>
            <a:ext cx="3204000" cy="3009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alta: [102]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normal: [101] → [103]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Favorece regra de atendimento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2cb1bc"/>
                </a:solidFill>
                <a:latin typeface="Inter"/>
              </a:rPr>
              <a:t>DISCUSSÃO</a:t>
            </a:r>
            <a:endParaRPr b="1" lang="en-US" sz="11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Qual organização vence?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46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09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12000" y="1404000"/>
            <a:ext cx="5580000" cy="789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4300" spc="-1" strike="noStrike">
                <a:solidFill>
                  <a:srgbClr val="f2b134"/>
                </a:solidFill>
                <a:latin typeface="Inter"/>
              </a:rPr>
              <a:t>DEPENDE.</a:t>
            </a:r>
            <a:endParaRPr b="1" lang="en-US" sz="4300" spc="-1" strike="noStrike">
              <a:solidFill>
                <a:srgbClr val="f2b134"/>
              </a:solidFill>
              <a:latin typeface="Inter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84000" y="2736000"/>
            <a:ext cx="4932000" cy="5796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ffffff"/>
                </a:solidFill>
                <a:latin typeface="Inter"/>
              </a:rPr>
              <a:t>Quais operações?</a:t>
            </a:r>
            <a:endParaRPr b="1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120000" y="2736000"/>
            <a:ext cx="4932000" cy="5796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ffffff"/>
                </a:solidFill>
                <a:latin typeface="Inter"/>
              </a:rPr>
              <a:t>Com que frequência?</a:t>
            </a:r>
            <a:endParaRPr b="1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84000" y="3816000"/>
            <a:ext cx="4932000" cy="5796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ffffff"/>
                </a:solidFill>
                <a:latin typeface="Inter"/>
              </a:rPr>
              <a:t>Quanto dado?</a:t>
            </a:r>
            <a:endParaRPr b="1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120000" y="3816000"/>
            <a:ext cx="4932000" cy="5796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ffffff"/>
                </a:solidFill>
                <a:latin typeface="Inter"/>
              </a:rPr>
              <a:t>Quais restrições?</a:t>
            </a:r>
            <a:endParaRPr b="1" lang="en-US" sz="21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260000" y="5004000"/>
            <a:ext cx="9720000" cy="4377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2cb1bc"/>
                </a:solidFill>
                <a:latin typeface="Inter"/>
              </a:rPr>
              <a:t>Não existe uma estrutura ideal para todos os problemas.</a:t>
            </a:r>
            <a:endParaRPr b="1" lang="en-US" sz="2000" spc="-1" strike="noStrike">
              <a:solidFill>
                <a:srgbClr val="2cb1bc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APLICAÇÕES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Estruturas no mercado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58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10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61" name=""/>
          <p:cNvSpPr/>
          <p:nvPr/>
        </p:nvSpPr>
        <p:spPr>
          <a:xfrm>
            <a:off x="1080000" y="1404000"/>
            <a:ext cx="504000" cy="504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1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324000" y="2088000"/>
            <a:ext cx="2016000" cy="3754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Inter"/>
              </a:rPr>
              <a:t>FILA</a:t>
            </a:r>
            <a:endParaRPr b="1" lang="en-US" sz="16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24000" y="2484000"/>
            <a:ext cx="2016000" cy="621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atendimento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pedidos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64" name=""/>
          <p:cNvSpPr/>
          <p:nvPr/>
        </p:nvSpPr>
        <p:spPr>
          <a:xfrm>
            <a:off x="3438000" y="1404000"/>
            <a:ext cx="504000" cy="504000"/>
          </a:xfrm>
          <a:prstGeom prst="ellipse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2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682000" y="2088000"/>
            <a:ext cx="2016000" cy="3754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Inter"/>
              </a:rPr>
              <a:t>PILHA</a:t>
            </a:r>
            <a:endParaRPr b="1" lang="en-US" sz="16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682000" y="2484000"/>
            <a:ext cx="2016000" cy="621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desfazer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histórico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67" name=""/>
          <p:cNvSpPr/>
          <p:nvPr/>
        </p:nvSpPr>
        <p:spPr>
          <a:xfrm>
            <a:off x="5796000" y="1404000"/>
            <a:ext cx="504000" cy="504000"/>
          </a:xfrm>
          <a:prstGeom prst="ellipse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3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040000" y="2088000"/>
            <a:ext cx="2016000" cy="3754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Inter"/>
              </a:rPr>
              <a:t>LISTA</a:t>
            </a:r>
            <a:endParaRPr b="1" lang="en-US" sz="16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040000" y="2484000"/>
            <a:ext cx="2016000" cy="621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cadastros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coleções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70" name=""/>
          <p:cNvSpPr/>
          <p:nvPr/>
        </p:nvSpPr>
        <p:spPr>
          <a:xfrm>
            <a:off x="8154000" y="1404000"/>
            <a:ext cx="504000" cy="504000"/>
          </a:xfrm>
          <a:prstGeom prst="ellipse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4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398000" y="2088000"/>
            <a:ext cx="2016000" cy="3754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Inter"/>
              </a:rPr>
              <a:t>HASH</a:t>
            </a:r>
            <a:endParaRPr b="1" lang="en-US" sz="16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398000" y="2484000"/>
            <a:ext cx="2016000" cy="621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consulta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cache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73" name=""/>
          <p:cNvSpPr/>
          <p:nvPr/>
        </p:nvSpPr>
        <p:spPr>
          <a:xfrm>
            <a:off x="10512000" y="1404000"/>
            <a:ext cx="504000" cy="504000"/>
          </a:xfrm>
          <a:prstGeom prst="ellipse">
            <a:avLst/>
          </a:prstGeom>
          <a:solidFill>
            <a:srgbClr val="c84b31"/>
          </a:solidFill>
          <a:ln w="12600">
            <a:solidFill>
              <a:srgbClr val="c84b31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5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9756000" y="2088000"/>
            <a:ext cx="2016000" cy="3754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Inter"/>
              </a:rPr>
              <a:t>ÁRVORE</a:t>
            </a:r>
            <a:endParaRPr b="1" lang="en-US" sz="16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9756000" y="2484000"/>
            <a:ext cx="2016000" cy="621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hierarquia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  <a:p>
            <a:pPr algn="ctr"/>
            <a:r>
              <a:rPr b="0" lang="en-US" sz="1600" spc="-1" strike="noStrike">
                <a:solidFill>
                  <a:srgbClr val="52667a"/>
                </a:solidFill>
                <a:latin typeface="Inter"/>
              </a:rPr>
              <a:t>diretórios</a:t>
            </a:r>
            <a:endParaRPr b="0" lang="en-US" sz="1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080000" y="4068000"/>
            <a:ext cx="10008000" cy="435600"/>
          </a:xfrm>
          <a:prstGeom prst="rect">
            <a:avLst/>
          </a:prstGeom>
          <a:solidFill>
            <a:srgbClr val="dceff4"/>
          </a:solidFill>
          <a:ln w="12600">
            <a:solidFill>
              <a:srgbClr val="dceff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Mapa conceitual — aprofundamento virá ao longo do semestre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TRILHA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Mapa oficial da disciplina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80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11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183" name=""/>
          <p:cNvSpPr/>
          <p:nvPr/>
        </p:nvSpPr>
        <p:spPr>
          <a:xfrm>
            <a:off x="378000" y="1440000"/>
            <a:ext cx="378000" cy="378000"/>
          </a:xfrm>
          <a:prstGeom prst="ellipse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1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90000" y="1944000"/>
            <a:ext cx="972000" cy="5598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102a43"/>
                </a:solidFill>
                <a:latin typeface="Inter"/>
              </a:rPr>
              <a:t>Fundamentos</a:t>
            </a:r>
            <a:endParaRPr b="1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85" name=""/>
          <p:cNvSpPr/>
          <p:nvPr/>
        </p:nvSpPr>
        <p:spPr>
          <a:xfrm>
            <a:off x="756000" y="1629000"/>
            <a:ext cx="1836000" cy="0"/>
          </a:xfrm>
          <a:prstGeom prst="line">
            <a:avLst/>
          </a:prstGeom>
          <a:ln w="14400">
            <a:solidFill>
              <a:srgbClr val="a5bb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rIns="97200" tIns="-52200" bIns="-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2682000" y="1440000"/>
            <a:ext cx="378000" cy="378000"/>
          </a:xfrm>
          <a:prstGeom prst="ellipse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2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394000" y="1944000"/>
            <a:ext cx="972000" cy="5598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102a43"/>
                </a:solidFill>
                <a:latin typeface="Inter"/>
              </a:rPr>
              <a:t>TAD + arrays</a:t>
            </a:r>
            <a:endParaRPr b="1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88" name=""/>
          <p:cNvSpPr/>
          <p:nvPr/>
        </p:nvSpPr>
        <p:spPr>
          <a:xfrm>
            <a:off x="3060000" y="1629000"/>
            <a:ext cx="1836000" cy="0"/>
          </a:xfrm>
          <a:prstGeom prst="line">
            <a:avLst/>
          </a:prstGeom>
          <a:ln w="14400">
            <a:solidFill>
              <a:srgbClr val="a5bb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rIns="97200" tIns="-52200" bIns="-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4986000" y="1440000"/>
            <a:ext cx="378000" cy="37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3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698000" y="1944000"/>
            <a:ext cx="972000" cy="47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102a43"/>
                </a:solidFill>
                <a:latin typeface="Inter"/>
              </a:rPr>
              <a:t>Memória</a:t>
            </a:r>
            <a:endParaRPr b="0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91" name=""/>
          <p:cNvSpPr/>
          <p:nvPr/>
        </p:nvSpPr>
        <p:spPr>
          <a:xfrm>
            <a:off x="5364000" y="1629000"/>
            <a:ext cx="1836000" cy="0"/>
          </a:xfrm>
          <a:prstGeom prst="line">
            <a:avLst/>
          </a:prstGeom>
          <a:ln w="14400">
            <a:solidFill>
              <a:srgbClr val="a5bb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rIns="97200" tIns="-52200" bIns="-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7290000" y="1440000"/>
            <a:ext cx="378000" cy="37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4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002000" y="1944000"/>
            <a:ext cx="972000" cy="5598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102a43"/>
                </a:solidFill>
                <a:latin typeface="Inter"/>
              </a:rPr>
              <a:t>Recursividade</a:t>
            </a:r>
            <a:endParaRPr b="0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94" name=""/>
          <p:cNvSpPr/>
          <p:nvPr/>
        </p:nvSpPr>
        <p:spPr>
          <a:xfrm>
            <a:off x="7668000" y="1629000"/>
            <a:ext cx="1836000" cy="0"/>
          </a:xfrm>
          <a:prstGeom prst="line">
            <a:avLst/>
          </a:prstGeom>
          <a:ln w="14400">
            <a:solidFill>
              <a:srgbClr val="a5bb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rIns="97200" tIns="-52200" bIns="-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9594000" y="1440000"/>
            <a:ext cx="378000" cy="37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5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9306000" y="1944000"/>
            <a:ext cx="972000" cy="47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102a43"/>
                </a:solidFill>
                <a:latin typeface="Inter"/>
              </a:rPr>
              <a:t>Listas</a:t>
            </a:r>
            <a:endParaRPr b="0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97" name=""/>
          <p:cNvSpPr/>
          <p:nvPr/>
        </p:nvSpPr>
        <p:spPr>
          <a:xfrm>
            <a:off x="378000" y="2952000"/>
            <a:ext cx="378000" cy="37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6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90000" y="3456000"/>
            <a:ext cx="972000" cy="5598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102a43"/>
                </a:solidFill>
                <a:latin typeface="Inter"/>
              </a:rPr>
              <a:t>Pilhas + filas</a:t>
            </a:r>
            <a:endParaRPr b="0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199" name=""/>
          <p:cNvSpPr/>
          <p:nvPr/>
        </p:nvSpPr>
        <p:spPr>
          <a:xfrm>
            <a:off x="756000" y="3141000"/>
            <a:ext cx="1836000" cy="0"/>
          </a:xfrm>
          <a:prstGeom prst="line">
            <a:avLst/>
          </a:prstGeom>
          <a:ln w="14400">
            <a:solidFill>
              <a:srgbClr val="a5bb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rIns="97200" tIns="-52200" bIns="-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2682000" y="2952000"/>
            <a:ext cx="378000" cy="37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7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394000" y="3456000"/>
            <a:ext cx="972000" cy="47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102a43"/>
                </a:solidFill>
                <a:latin typeface="Inter"/>
              </a:rPr>
              <a:t>Hash</a:t>
            </a:r>
            <a:endParaRPr b="0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02" name=""/>
          <p:cNvSpPr/>
          <p:nvPr/>
        </p:nvSpPr>
        <p:spPr>
          <a:xfrm>
            <a:off x="3060000" y="3141000"/>
            <a:ext cx="1836000" cy="0"/>
          </a:xfrm>
          <a:prstGeom prst="line">
            <a:avLst/>
          </a:prstGeom>
          <a:ln w="14400">
            <a:solidFill>
              <a:srgbClr val="a5bb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rIns="97200" tIns="-52200" bIns="-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4986000" y="2952000"/>
            <a:ext cx="378000" cy="37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8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698000" y="3456000"/>
            <a:ext cx="972000" cy="47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102a43"/>
                </a:solidFill>
                <a:latin typeface="Inter"/>
              </a:rPr>
              <a:t>Árvores</a:t>
            </a:r>
            <a:endParaRPr b="0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05" name=""/>
          <p:cNvSpPr/>
          <p:nvPr/>
        </p:nvSpPr>
        <p:spPr>
          <a:xfrm>
            <a:off x="5364000" y="3141000"/>
            <a:ext cx="1836000" cy="0"/>
          </a:xfrm>
          <a:prstGeom prst="line">
            <a:avLst/>
          </a:prstGeom>
          <a:ln w="14400">
            <a:solidFill>
              <a:srgbClr val="a5bb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0" rIns="97200" tIns="-52200" bIns="-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7290000" y="2952000"/>
            <a:ext cx="378000" cy="37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9</a:t>
            </a:r>
            <a:endParaRPr b="1" lang="en-US" sz="15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002000" y="3456000"/>
            <a:ext cx="972000" cy="5598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102a43"/>
                </a:solidFill>
                <a:latin typeface="Inter"/>
              </a:rPr>
              <a:t>Busca + ordem</a:t>
            </a:r>
            <a:endParaRPr b="0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68000" y="4860000"/>
            <a:ext cx="1512000" cy="363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102a43"/>
                </a:solidFill>
                <a:latin typeface="Inter"/>
              </a:rPr>
              <a:t>HOJE</a:t>
            </a:r>
            <a:endParaRPr b="1" lang="en-US" sz="14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196000" y="4860000"/>
            <a:ext cx="2340000" cy="3636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102a43"/>
                </a:solidFill>
                <a:latin typeface="Inter"/>
              </a:rPr>
              <a:t>PRÓXIMA: TAD</a:t>
            </a:r>
            <a:endParaRPr b="1" lang="en-US" sz="14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DUAS CAMADAS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Representação lógica × implementação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13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12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16" name=""/>
          <p:cNvSpPr/>
          <p:nvPr/>
        </p:nvSpPr>
        <p:spPr>
          <a:xfrm>
            <a:off x="612000" y="1404000"/>
            <a:ext cx="4968000" cy="3456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12000" y="1404000"/>
            <a:ext cx="64800" cy="34560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74000" y="1530000"/>
            <a:ext cx="4716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REPRESENTAÇÃO LÓGICA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774000" y="1836000"/>
            <a:ext cx="4716000" cy="2973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Fila de pedidos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• </a:t>
            </a:r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entrar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• </a:t>
            </a:r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consultar próximo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• </a:t>
            </a:r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sair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Regra: primeiro a entrar, primeiro a sair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20" name=""/>
          <p:cNvSpPr/>
          <p:nvPr/>
        </p:nvSpPr>
        <p:spPr>
          <a:xfrm>
            <a:off x="6552000" y="1404000"/>
            <a:ext cx="4968000" cy="3456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552000" y="1404000"/>
            <a:ext cx="64800" cy="34560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6714000" y="1530000"/>
            <a:ext cx="4716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IMPLEMENTAÇÃO CONCRETA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6714000" y="1836000"/>
            <a:ext cx="4716000" cy="2973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Python: lista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C: array + quantidade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20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2000" spc="-1" strike="noStrike">
                <a:solidFill>
                  <a:srgbClr val="52667a"/>
                </a:solidFill>
                <a:latin typeface="Inter"/>
              </a:rPr>
              <a:t>Outras possibilidades serão estudadas depois.</a:t>
            </a:r>
            <a:endParaRPr b="0" lang="en-US" sz="2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368000" y="5220000"/>
            <a:ext cx="3420000" cy="360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500" spc="-1" strike="noStrike">
                <a:solidFill>
                  <a:srgbClr val="176b87"/>
                </a:solidFill>
                <a:latin typeface="Inter"/>
              </a:rPr>
              <a:t>comportamento</a:t>
            </a:r>
            <a:endParaRPr b="1" lang="en-US" sz="15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7452000" y="5220000"/>
            <a:ext cx="3420000" cy="3600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500" spc="-1" strike="noStrike">
                <a:solidFill>
                  <a:srgbClr val="2d8a64"/>
                </a:solidFill>
                <a:latin typeface="Inter"/>
              </a:rPr>
              <a:t>código + memória</a:t>
            </a:r>
            <a:endParaRPr b="1" lang="en-US" sz="1500" spc="-1" strike="noStrike">
              <a:solidFill>
                <a:srgbClr val="2d8a64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2cb1bc"/>
                </a:solidFill>
                <a:latin typeface="Inter"/>
              </a:rPr>
              <a:t>DEMONSTRAÇÃO</a:t>
            </a:r>
            <a:endParaRPr b="1" lang="en-US" sz="11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Busca: torne o trabalho visível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29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13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76000" y="1368000"/>
            <a:ext cx="324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2cb1bc"/>
                </a:solidFill>
                <a:latin typeface="Inter"/>
              </a:rPr>
              <a:t>procurar 103</a:t>
            </a:r>
            <a:endParaRPr b="1" lang="en-US" sz="18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080000" y="2196000"/>
            <a:ext cx="2520000" cy="97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3200" spc="-1" strike="noStrike">
                <a:solidFill>
                  <a:srgbClr val="102a43"/>
                </a:solidFill>
                <a:latin typeface="Inter"/>
              </a:rPr>
              <a:t>101</a:t>
            </a:r>
            <a:endParaRPr b="1" lang="en-US" sz="32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3708000" y="2448000"/>
            <a:ext cx="540000" cy="5446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700" spc="-1" strike="noStrike">
                <a:solidFill>
                  <a:srgbClr val="f2b134"/>
                </a:solidFill>
                <a:latin typeface="Inter"/>
              </a:rPr>
              <a:t>→</a:t>
            </a:r>
            <a:endParaRPr b="1" lang="en-US" sz="2700" spc="-1" strike="noStrike">
              <a:solidFill>
                <a:srgbClr val="f2b134"/>
              </a:solidFill>
              <a:latin typeface="Inter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080000" y="3312000"/>
            <a:ext cx="2520000" cy="3448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c6dae4"/>
                </a:solidFill>
                <a:latin typeface="Inter"/>
              </a:rPr>
              <a:t>comparação 1</a:t>
            </a:r>
            <a:endParaRPr b="0" lang="en-US" sz="1400" spc="-1" strike="noStrike">
              <a:solidFill>
                <a:srgbClr val="c6dae4"/>
              </a:solidFill>
              <a:latin typeface="Inter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428000" y="2196000"/>
            <a:ext cx="2520000" cy="97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3200" spc="-1" strike="noStrike">
                <a:solidFill>
                  <a:srgbClr val="102a43"/>
                </a:solidFill>
                <a:latin typeface="Inter"/>
              </a:rPr>
              <a:t>102</a:t>
            </a:r>
            <a:endParaRPr b="1" lang="en-US" sz="32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056000" y="2448000"/>
            <a:ext cx="540000" cy="5446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700" spc="-1" strike="noStrike">
                <a:solidFill>
                  <a:srgbClr val="f2b134"/>
                </a:solidFill>
                <a:latin typeface="Inter"/>
              </a:rPr>
              <a:t>→</a:t>
            </a:r>
            <a:endParaRPr b="1" lang="en-US" sz="2700" spc="-1" strike="noStrike">
              <a:solidFill>
                <a:srgbClr val="f2b134"/>
              </a:solidFill>
              <a:latin typeface="Inter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4428000" y="3312000"/>
            <a:ext cx="2520000" cy="3448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c6dae4"/>
                </a:solidFill>
                <a:latin typeface="Inter"/>
              </a:rPr>
              <a:t>comparação 2</a:t>
            </a:r>
            <a:endParaRPr b="0" lang="en-US" sz="1400" spc="-1" strike="noStrike">
              <a:solidFill>
                <a:srgbClr val="c6dae4"/>
              </a:solidFill>
              <a:latin typeface="Inter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776000" y="2196000"/>
            <a:ext cx="2520000" cy="97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3200" spc="-1" strike="noStrike">
                <a:solidFill>
                  <a:srgbClr val="102a43"/>
                </a:solidFill>
                <a:latin typeface="Inter"/>
              </a:rPr>
              <a:t>103</a:t>
            </a:r>
            <a:endParaRPr b="1" lang="en-US" sz="32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776000" y="3312000"/>
            <a:ext cx="2520000" cy="3448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1400" spc="-1" strike="noStrike">
                <a:solidFill>
                  <a:srgbClr val="c6dae4"/>
                </a:solidFill>
                <a:latin typeface="Inter"/>
              </a:rPr>
              <a:t>comparação 3</a:t>
            </a:r>
            <a:endParaRPr b="0" lang="en-US" sz="1400" spc="-1" strike="noStrike">
              <a:solidFill>
                <a:srgbClr val="c6dae4"/>
              </a:solidFill>
              <a:latin typeface="Inter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332000" y="4500000"/>
            <a:ext cx="9720000" cy="5446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700" spc="-1" strike="noStrike">
                <a:solidFill>
                  <a:srgbClr val="f2b134"/>
                </a:solidFill>
                <a:latin typeface="Inter"/>
              </a:rPr>
              <a:t>E se forem 1.000.000 de pedidos?</a:t>
            </a:r>
            <a:endParaRPr b="1" lang="en-US" sz="2700" spc="-1" strike="noStrike">
              <a:solidFill>
                <a:srgbClr val="f2b134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INTUIÇÃO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Eficiência: perguntas antes de fórmulas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45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14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48" name=""/>
          <p:cNvSpPr/>
          <p:nvPr/>
        </p:nvSpPr>
        <p:spPr>
          <a:xfrm>
            <a:off x="540000" y="1440000"/>
            <a:ext cx="468000" cy="46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1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224000" y="1476000"/>
            <a:ext cx="450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Quantos elementos?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50" name=""/>
          <p:cNvSpPr/>
          <p:nvPr/>
        </p:nvSpPr>
        <p:spPr>
          <a:xfrm>
            <a:off x="6300000" y="1440000"/>
            <a:ext cx="468000" cy="468000"/>
          </a:xfrm>
          <a:prstGeom prst="ellipse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2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984000" y="1476000"/>
            <a:ext cx="450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O trabalho cresce?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52" name=""/>
          <p:cNvSpPr/>
          <p:nvPr/>
        </p:nvSpPr>
        <p:spPr>
          <a:xfrm>
            <a:off x="540000" y="3024000"/>
            <a:ext cx="468000" cy="468000"/>
          </a:xfrm>
          <a:prstGeom prst="ellipse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3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224000" y="3060000"/>
            <a:ext cx="450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A posição importa?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54" name=""/>
          <p:cNvSpPr/>
          <p:nvPr/>
        </p:nvSpPr>
        <p:spPr>
          <a:xfrm>
            <a:off x="6300000" y="3024000"/>
            <a:ext cx="468000" cy="468000"/>
          </a:xfrm>
          <a:prstGeom prst="ellipse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b" anchorCtr="1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4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984000" y="3060000"/>
            <a:ext cx="4500000" cy="453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O que foi favorecido?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936000" y="4932000"/>
            <a:ext cx="10296000" cy="435600"/>
          </a:xfrm>
          <a:prstGeom prst="rect">
            <a:avLst/>
          </a:prstGeom>
          <a:solidFill>
            <a:srgbClr val="fff0c2"/>
          </a:solidFill>
          <a:ln w="12600">
            <a:solidFill>
              <a:srgbClr val="fff0c2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Big-O será retomado depois — hoje, observe e explique o trabalho.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LINGUAGEM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Python: experimentar rapidamente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60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15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84000" y="1512000"/>
            <a:ext cx="5400000" cy="2754000"/>
          </a:xfrm>
          <a:prstGeom prst="rect">
            <a:avLst/>
          </a:prstGeom>
          <a:solidFill>
            <a:srgbClr val="f1f5f7"/>
          </a:solidFill>
          <a:ln w="12600">
            <a:solidFill>
              <a:srgbClr val="cad7de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2300" spc="-1" strike="noStrike">
                <a:solidFill>
                  <a:srgbClr val="172b4d"/>
                </a:solidFill>
                <a:latin typeface="Courier New"/>
              </a:rPr>
              <a:t>pedidos = []</a:t>
            </a:r>
            <a:endParaRPr b="0" lang="en-US" sz="2300" spc="-1" strike="noStrike">
              <a:solidFill>
                <a:srgbClr val="172b4d"/>
              </a:solidFill>
              <a:latin typeface="Courier New"/>
            </a:endParaRPr>
          </a:p>
          <a:p>
            <a:endParaRPr b="0" lang="en-US" sz="23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0" lang="en-US" sz="2300" spc="-1" strike="noStrike">
                <a:solidFill>
                  <a:srgbClr val="172b4d"/>
                </a:solidFill>
                <a:latin typeface="Courier New"/>
              </a:rPr>
              <a:t>pedidos.append(novo)</a:t>
            </a:r>
            <a:endParaRPr b="0" lang="en-US" sz="23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0" lang="en-US" sz="2300" spc="-1" strike="noStrike">
                <a:solidFill>
                  <a:srgbClr val="172b4d"/>
                </a:solidFill>
                <a:latin typeface="Courier New"/>
              </a:rPr>
              <a:t>primeiro = pedidos.pop(0)</a:t>
            </a:r>
            <a:endParaRPr b="0" lang="en-US" sz="23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264" name=""/>
          <p:cNvSpPr/>
          <p:nvPr/>
        </p:nvSpPr>
        <p:spPr>
          <a:xfrm>
            <a:off x="6840000" y="1512000"/>
            <a:ext cx="4500000" cy="756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840000" y="1512000"/>
            <a:ext cx="64800" cy="7560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002000" y="1638000"/>
            <a:ext cx="4248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RÁPIDO PARA TESTAR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002000" y="1944000"/>
            <a:ext cx="4248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52667a"/>
                </a:solidFill>
                <a:latin typeface="Inter"/>
              </a:rPr>
              <a:t>pouco código</a:t>
            </a:r>
            <a:endParaRPr b="0" lang="en-US" sz="17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68" name=""/>
          <p:cNvSpPr/>
          <p:nvPr/>
        </p:nvSpPr>
        <p:spPr>
          <a:xfrm>
            <a:off x="6840000" y="2484000"/>
            <a:ext cx="4500000" cy="756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6840000" y="2484000"/>
            <a:ext cx="64800" cy="7560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002000" y="2610000"/>
            <a:ext cx="4248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FÁCIL DE OBSERVAR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002000" y="2916000"/>
            <a:ext cx="4248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52667a"/>
                </a:solidFill>
                <a:latin typeface="Inter"/>
              </a:rPr>
              <a:t>imprimir estados</a:t>
            </a:r>
            <a:endParaRPr b="0" lang="en-US" sz="17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72" name=""/>
          <p:cNvSpPr/>
          <p:nvPr/>
        </p:nvSpPr>
        <p:spPr>
          <a:xfrm>
            <a:off x="6840000" y="3456000"/>
            <a:ext cx="4500000" cy="756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6840000" y="3456000"/>
            <a:ext cx="64800" cy="7560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002000" y="3582000"/>
            <a:ext cx="4248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AINDA EXIGE RACIOCÍNIO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002000" y="3888000"/>
            <a:ext cx="4248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52667a"/>
                </a:solidFill>
                <a:latin typeface="Inter"/>
              </a:rPr>
              <a:t>operações têm trabalho</a:t>
            </a:r>
            <a:endParaRPr b="0" lang="en-US" sz="1700" spc="-1" strike="noStrike">
              <a:solidFill>
                <a:srgbClr val="52667a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LINGUAGEM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C: organização explícita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79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16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612000" y="1440000"/>
            <a:ext cx="5652000" cy="3006000"/>
          </a:xfrm>
          <a:prstGeom prst="rect">
            <a:avLst/>
          </a:prstGeom>
          <a:solidFill>
            <a:srgbClr val="f1f5f7"/>
          </a:solidFill>
          <a:ln w="12600">
            <a:solidFill>
              <a:srgbClr val="cad7de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2100" spc="-1" strike="noStrike">
                <a:solidFill>
                  <a:srgbClr val="172b4d"/>
                </a:solidFill>
                <a:latin typeface="Courier New"/>
              </a:rPr>
              <a:t>Pedido pedidos[100];</a:t>
            </a:r>
            <a:endParaRPr b="0" lang="en-US" sz="21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0" lang="en-US" sz="2100" spc="-1" strike="noStrike">
                <a:solidFill>
                  <a:srgbClr val="172b4d"/>
                </a:solidFill>
                <a:latin typeface="Courier New"/>
              </a:rPr>
              <a:t>int quantidade = 0;</a:t>
            </a:r>
            <a:endParaRPr b="0" lang="en-US" sz="2100" spc="-1" strike="noStrike">
              <a:solidFill>
                <a:srgbClr val="172b4d"/>
              </a:solidFill>
              <a:latin typeface="Courier New"/>
            </a:endParaRPr>
          </a:p>
          <a:p>
            <a:endParaRPr b="0" lang="en-US" sz="21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0" lang="en-US" sz="2100" spc="-1" strike="noStrike">
                <a:solidFill>
                  <a:srgbClr val="172b4d"/>
                </a:solidFill>
                <a:latin typeface="Courier New"/>
              </a:rPr>
              <a:t>pedidos[quantidade] = novo;</a:t>
            </a:r>
            <a:endParaRPr b="0" lang="en-US" sz="21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0" lang="en-US" sz="2100" spc="-1" strike="noStrike">
                <a:solidFill>
                  <a:srgbClr val="172b4d"/>
                </a:solidFill>
                <a:latin typeface="Courier New"/>
              </a:rPr>
              <a:t>quantidade++;</a:t>
            </a:r>
            <a:endParaRPr b="0" lang="en-US" sz="21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020000" y="1476000"/>
            <a:ext cx="1620000" cy="57960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7de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800" spc="-1" strike="noStrike">
                <a:solidFill>
                  <a:srgbClr val="102a43"/>
                </a:solidFill>
                <a:latin typeface="Inter"/>
              </a:rPr>
              <a:t>100</a:t>
            </a:r>
            <a:endParaRPr b="1" lang="en-US" sz="2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856000" y="1602000"/>
            <a:ext cx="2340000" cy="3448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400" spc="-1" strike="noStrike">
                <a:solidFill>
                  <a:srgbClr val="176b87"/>
                </a:solidFill>
                <a:latin typeface="Inter"/>
              </a:rPr>
              <a:t>CAPACIDADE</a:t>
            </a:r>
            <a:endParaRPr b="1" lang="en-US" sz="14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020000" y="2556000"/>
            <a:ext cx="1620000" cy="57960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7de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800" spc="-1" strike="noStrike">
                <a:solidFill>
                  <a:srgbClr val="102a43"/>
                </a:solidFill>
                <a:latin typeface="Inter"/>
              </a:rPr>
              <a:t>3</a:t>
            </a:r>
            <a:endParaRPr b="1" lang="en-US" sz="2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8856000" y="2682000"/>
            <a:ext cx="2340000" cy="3448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400" spc="-1" strike="noStrike">
                <a:solidFill>
                  <a:srgbClr val="2cb1bc"/>
                </a:solidFill>
                <a:latin typeface="Inter"/>
              </a:rPr>
              <a:t>TAMANHO LÓGICO</a:t>
            </a:r>
            <a:endParaRPr b="1" lang="en-US" sz="14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020000" y="3636000"/>
            <a:ext cx="1620000" cy="579600"/>
          </a:xfrm>
          <a:prstGeom prst="rect">
            <a:avLst/>
          </a:prstGeom>
          <a:solidFill>
            <a:srgbClr val="ffffff"/>
          </a:solidFill>
          <a:ln w="12600">
            <a:solidFill>
              <a:srgbClr val="cbd7de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800" spc="-1" strike="noStrike">
                <a:solidFill>
                  <a:srgbClr val="102a43"/>
                </a:solidFill>
                <a:latin typeface="Inter"/>
              </a:rPr>
              <a:t>0 1 2</a:t>
            </a:r>
            <a:endParaRPr b="1" lang="en-US" sz="2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8856000" y="3762000"/>
            <a:ext cx="2340000" cy="3448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400" spc="-1" strike="noStrike">
                <a:solidFill>
                  <a:srgbClr val="f2b134"/>
                </a:solidFill>
                <a:latin typeface="Inter"/>
              </a:rPr>
              <a:t>POSIÇÕES</a:t>
            </a:r>
            <a:endParaRPr b="1" lang="en-US" sz="1400" spc="-1" strike="noStrike">
              <a:solidFill>
                <a:srgbClr val="f2b134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PYTHON × C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Mesmo problema, lentes diferentes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92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17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04000" y="1404000"/>
            <a:ext cx="3420000" cy="435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PYTHON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04000" y="1980000"/>
            <a:ext cx="3420000" cy="2199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lista dinâmica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operações de alto nível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experimentação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4356000" y="1404000"/>
            <a:ext cx="3420000" cy="435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PERMANECE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4356000" y="1980000"/>
            <a:ext cx="3420000" cy="2199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dados e regras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ordem desejada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operações do problema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8208000" y="1404000"/>
            <a:ext cx="3420000" cy="4356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C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8208000" y="1980000"/>
            <a:ext cx="3420000" cy="2199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array com limite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tamanho explícito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0" lang="en-US" sz="2000" spc="-1" strike="noStrike">
                <a:solidFill>
                  <a:srgbClr val="102a43"/>
                </a:solidFill>
                <a:latin typeface="Inter"/>
              </a:rPr>
              <a:t>deslocamentos</a:t>
            </a:r>
            <a:endParaRPr b="0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376000" y="4824000"/>
            <a:ext cx="7380000" cy="514080"/>
          </a:xfrm>
          <a:prstGeom prst="rect">
            <a:avLst/>
          </a:prstGeom>
          <a:solidFill>
            <a:srgbClr val="ddf3e9"/>
          </a:solidFill>
          <a:ln w="12600">
            <a:solidFill>
              <a:srgbClr val="ddf3e9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500" spc="-1" strike="noStrike">
                <a:solidFill>
                  <a:srgbClr val="102a43"/>
                </a:solidFill>
                <a:latin typeface="Inter"/>
              </a:rPr>
              <a:t>Complementares, não concorrentes.</a:t>
            </a:r>
            <a:endParaRPr b="1" lang="en-US" sz="25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MODELO MENTAL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Git: quatro lugares, um fluxo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05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18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96000" y="2196000"/>
            <a:ext cx="2340000" cy="97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Inter"/>
              </a:rPr>
              <a:t>Working</a:t>
            </a:r>
            <a:endParaRPr b="1" lang="en-US" sz="19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Inter"/>
              </a:rPr>
              <a:t>Directory</a:t>
            </a:r>
            <a:endParaRPr b="1" lang="en-US" sz="19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772000" y="2448000"/>
            <a:ext cx="540000" cy="5292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600" spc="-1" strike="noStrike">
                <a:solidFill>
                  <a:srgbClr val="52667a"/>
                </a:solidFill>
                <a:latin typeface="Inter"/>
              </a:rPr>
              <a:t>→</a:t>
            </a:r>
            <a:endParaRPr b="1" lang="en-US" sz="2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3330000" y="2196000"/>
            <a:ext cx="2340000" cy="97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Inter"/>
              </a:rPr>
              <a:t>Staging</a:t>
            </a:r>
            <a:endParaRPr b="1" lang="en-US" sz="19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5706000" y="2448000"/>
            <a:ext cx="540000" cy="5292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600" spc="-1" strike="noStrike">
                <a:solidFill>
                  <a:srgbClr val="52667a"/>
                </a:solidFill>
                <a:latin typeface="Inter"/>
              </a:rPr>
              <a:t>→</a:t>
            </a:r>
            <a:endParaRPr b="1" lang="en-US" sz="2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264000" y="2196000"/>
            <a:ext cx="2340000" cy="97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Inter"/>
              </a:rPr>
              <a:t>Repositório</a:t>
            </a:r>
            <a:endParaRPr b="1" lang="en-US" sz="19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Inter"/>
              </a:rPr>
              <a:t>local</a:t>
            </a:r>
            <a:endParaRPr b="1" lang="en-US" sz="19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8640000" y="2448000"/>
            <a:ext cx="540000" cy="5292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600" spc="-1" strike="noStrike">
                <a:solidFill>
                  <a:srgbClr val="52667a"/>
                </a:solidFill>
                <a:latin typeface="Inter"/>
              </a:rPr>
              <a:t>→</a:t>
            </a:r>
            <a:endParaRPr b="1" lang="en-US" sz="26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9198000" y="2196000"/>
            <a:ext cx="2340000" cy="975600"/>
          </a:xfrm>
          <a:prstGeom prst="rect">
            <a:avLst/>
          </a:prstGeom>
          <a:solidFill>
            <a:srgbClr val="ffffff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Inter"/>
              </a:rPr>
              <a:t>GitHub</a:t>
            </a:r>
            <a:endParaRPr b="1" lang="en-US" sz="19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2592000" y="3384000"/>
            <a:ext cx="108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git add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5526000" y="3384000"/>
            <a:ext cx="108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git commit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8460000" y="3384000"/>
            <a:ext cx="108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git push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160000" y="4428000"/>
            <a:ext cx="7920000" cy="392040"/>
          </a:xfrm>
          <a:prstGeom prst="rect">
            <a:avLst/>
          </a:prstGeom>
          <a:solidFill>
            <a:srgbClr val="dceff4"/>
          </a:solidFill>
          <a:ln w="12600">
            <a:solidFill>
              <a:srgbClr val="dceff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102a43"/>
                </a:solidFill>
                <a:latin typeface="Inter"/>
              </a:rPr>
              <a:t>git pull: traz mudanças do remoto para o trabalho local</a:t>
            </a:r>
            <a:endParaRPr b="1" lang="en-US" sz="17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2cb1bc"/>
                </a:solidFill>
                <a:latin typeface="Inter"/>
              </a:rPr>
              <a:t>GIT + GITHUB</a:t>
            </a:r>
            <a:endParaRPr b="1" lang="en-US" sz="11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Fluxo operacional essencial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322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19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612000" y="1332000"/>
            <a:ext cx="5112000" cy="7200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git clone URL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6300000" y="1332000"/>
            <a:ext cx="5112000" cy="7200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git status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612000" y="2556000"/>
            <a:ext cx="5112000" cy="7200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git add arquivo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6300000" y="2556000"/>
            <a:ext cx="5112000" cy="7200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git commit -m "mensagem"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612000" y="3780000"/>
            <a:ext cx="5112000" cy="7200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git push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6300000" y="3780000"/>
            <a:ext cx="5112000" cy="72000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108000" rIns="108000" tIns="108000" bIns="108000" anchor="t">
            <a:noAutofit/>
          </a:bodyPr>
          <a:p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git pull</a:t>
            </a:r>
            <a:endParaRPr b="0" lang="en-US" sz="1900" spc="-1" strike="noStrike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3780000" y="5112000"/>
            <a:ext cx="4680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2b134"/>
                </a:solidFill>
                <a:latin typeface="Inter"/>
              </a:rPr>
              <a:t>status antes de agir</a:t>
            </a:r>
            <a:endParaRPr b="1" lang="en-US" sz="1700" spc="-1" strike="noStrike">
              <a:solidFill>
                <a:srgbClr val="f2b134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SEM INVENTAR ESCOPO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Organização inicial do projeto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35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20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612000" y="1368000"/>
            <a:ext cx="3240000" cy="433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100" spc="-1" strike="noStrike">
                <a:solidFill>
                  <a:srgbClr val="102a43"/>
                </a:solidFill>
                <a:latin typeface="Courier New"/>
              </a:rPr>
              <a:t>projeto/</a:t>
            </a:r>
            <a:endParaRPr b="1" lang="en-US" sz="2100" spc="-1" strike="noStrike">
              <a:solidFill>
                <a:srgbClr val="102a43"/>
              </a:solidFill>
              <a:latin typeface="Courier New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864000" y="1872000"/>
            <a:ext cx="3240000" cy="402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├── </a:t>
            </a:r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README.md</a:t>
            </a:r>
            <a:endParaRPr b="1" lang="en-US" sz="19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680000" y="1872000"/>
            <a:ext cx="5760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52667a"/>
                </a:solidFill>
                <a:latin typeface="Inter"/>
              </a:rPr>
              <a:t>orientação e acordos</a:t>
            </a:r>
            <a:endParaRPr b="0" lang="en-US" sz="17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41" name=""/>
          <p:cNvSpPr/>
          <p:nvPr/>
        </p:nvSpPr>
        <p:spPr>
          <a:xfrm>
            <a:off x="4140000" y="1908000"/>
            <a:ext cx="64800" cy="2160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864000" y="2736000"/>
            <a:ext cx="3240000" cy="402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├── </a:t>
            </a:r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docs/</a:t>
            </a:r>
            <a:endParaRPr b="1" lang="en-US" sz="19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680000" y="2736000"/>
            <a:ext cx="5760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52667a"/>
                </a:solidFill>
                <a:latin typeface="Inter"/>
              </a:rPr>
              <a:t>decisões e desenhos</a:t>
            </a:r>
            <a:endParaRPr b="0" lang="en-US" sz="17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44" name=""/>
          <p:cNvSpPr/>
          <p:nvPr/>
        </p:nvSpPr>
        <p:spPr>
          <a:xfrm>
            <a:off x="4140000" y="2772000"/>
            <a:ext cx="64800" cy="2160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864000" y="3600000"/>
            <a:ext cx="3240000" cy="402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├── </a:t>
            </a:r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src/</a:t>
            </a:r>
            <a:endParaRPr b="1" lang="en-US" sz="19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680000" y="3600000"/>
            <a:ext cx="5760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52667a"/>
                </a:solidFill>
                <a:latin typeface="Inter"/>
              </a:rPr>
              <a:t>código quando existir</a:t>
            </a:r>
            <a:endParaRPr b="0" lang="en-US" sz="17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47" name=""/>
          <p:cNvSpPr/>
          <p:nvPr/>
        </p:nvSpPr>
        <p:spPr>
          <a:xfrm>
            <a:off x="4140000" y="3636000"/>
            <a:ext cx="64800" cy="2160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864000" y="4464000"/>
            <a:ext cx="3240000" cy="4028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├── </a:t>
            </a:r>
            <a:r>
              <a:rPr b="1" lang="en-US" sz="1900" spc="-1" strike="noStrike">
                <a:solidFill>
                  <a:srgbClr val="172b4d"/>
                </a:solidFill>
                <a:latin typeface="Courier New"/>
              </a:rPr>
              <a:t>tests/</a:t>
            </a:r>
            <a:endParaRPr b="1" lang="en-US" sz="19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4680000" y="4464000"/>
            <a:ext cx="5760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52667a"/>
                </a:solidFill>
                <a:latin typeface="Inter"/>
              </a:rPr>
              <a:t>testes progressivos</a:t>
            </a:r>
            <a:endParaRPr b="0" lang="en-US" sz="17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50" name=""/>
          <p:cNvSpPr/>
          <p:nvPr/>
        </p:nvSpPr>
        <p:spPr>
          <a:xfrm>
            <a:off x="4140000" y="4500000"/>
            <a:ext cx="64800" cy="2160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692000" y="5328000"/>
            <a:ext cx="9000000" cy="421200"/>
          </a:xfrm>
          <a:prstGeom prst="rect">
            <a:avLst/>
          </a:prstGeom>
          <a:solidFill>
            <a:srgbClr val="f9e4de"/>
          </a:solidFill>
          <a:ln w="12600">
            <a:solidFill>
              <a:srgbClr val="f9e4de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900" spc="-1" strike="noStrike">
                <a:solidFill>
                  <a:srgbClr val="c84b31"/>
                </a:solidFill>
                <a:latin typeface="Inter"/>
              </a:rPr>
              <a:t>Escopo funcional: será construído com a turma.</a:t>
            </a:r>
            <a:endParaRPr b="1" lang="en-US" sz="1900" spc="-1" strike="noStrike">
              <a:solidFill>
                <a:srgbClr val="c84b3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LABORATÓRIO ADAPTATIVO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Antes de executar: verifique o ambiente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55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21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540000" y="1368000"/>
            <a:ext cx="5148000" cy="63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ad7de"/>
            </a:solidFill>
            <a:round/>
          </a:ln>
        </p:spPr>
        <p:txBody>
          <a:bodyPr lIns="93600" rIns="93600" tIns="93600" bIns="93600" anchor="t">
            <a:noAutofit/>
          </a:bodyPr>
          <a:p>
            <a:r>
              <a:rPr b="0" lang="en-US" sz="1800" spc="-1" strike="noStrike">
                <a:solidFill>
                  <a:srgbClr val="172b4d"/>
                </a:solidFill>
                <a:latin typeface="Courier New"/>
              </a:rPr>
              <a:t>python --version</a:t>
            </a:r>
            <a:endParaRPr b="0" lang="en-US" sz="18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6228000" y="1368000"/>
            <a:ext cx="5148000" cy="63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ad7de"/>
            </a:solidFill>
            <a:round/>
          </a:ln>
        </p:spPr>
        <p:txBody>
          <a:bodyPr lIns="93600" rIns="93600" tIns="93600" bIns="93600" anchor="t">
            <a:noAutofit/>
          </a:bodyPr>
          <a:p>
            <a:r>
              <a:rPr b="0" lang="en-US" sz="1800" spc="-1" strike="noStrike">
                <a:solidFill>
                  <a:srgbClr val="172b4d"/>
                </a:solidFill>
                <a:latin typeface="Courier New"/>
              </a:rPr>
              <a:t>python3 --version</a:t>
            </a:r>
            <a:endParaRPr b="0" lang="en-US" sz="18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40000" y="2520000"/>
            <a:ext cx="5148000" cy="63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ad7de"/>
            </a:solidFill>
            <a:round/>
          </a:ln>
        </p:spPr>
        <p:txBody>
          <a:bodyPr lIns="93600" rIns="93600" tIns="93600" bIns="93600" anchor="t">
            <a:noAutofit/>
          </a:bodyPr>
          <a:p>
            <a:r>
              <a:rPr b="0" lang="en-US" sz="1800" spc="-1" strike="noStrike">
                <a:solidFill>
                  <a:srgbClr val="172b4d"/>
                </a:solidFill>
                <a:latin typeface="Courier New"/>
              </a:rPr>
              <a:t>py --version</a:t>
            </a:r>
            <a:endParaRPr b="0" lang="en-US" sz="18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6228000" y="2520000"/>
            <a:ext cx="5148000" cy="63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ad7de"/>
            </a:solidFill>
            <a:round/>
          </a:ln>
        </p:spPr>
        <p:txBody>
          <a:bodyPr lIns="93600" rIns="93600" tIns="93600" bIns="93600" anchor="t">
            <a:noAutofit/>
          </a:bodyPr>
          <a:p>
            <a:r>
              <a:rPr b="0" lang="en-US" sz="1800" spc="-1" strike="noStrike">
                <a:solidFill>
                  <a:srgbClr val="172b4d"/>
                </a:solidFill>
                <a:latin typeface="Courier New"/>
              </a:rPr>
              <a:t>gcc --version</a:t>
            </a:r>
            <a:endParaRPr b="0" lang="en-US" sz="18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40000" y="3672000"/>
            <a:ext cx="5148000" cy="63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ad7de"/>
            </a:solidFill>
            <a:round/>
          </a:ln>
        </p:spPr>
        <p:txBody>
          <a:bodyPr lIns="93600" rIns="93600" tIns="93600" bIns="93600" anchor="t">
            <a:noAutofit/>
          </a:bodyPr>
          <a:p>
            <a:r>
              <a:rPr b="0" lang="en-US" sz="1800" spc="-1" strike="noStrike">
                <a:solidFill>
                  <a:srgbClr val="172b4d"/>
                </a:solidFill>
                <a:latin typeface="Courier New"/>
              </a:rPr>
              <a:t>where / which python</a:t>
            </a:r>
            <a:endParaRPr b="0" lang="en-US" sz="18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6228000" y="3672000"/>
            <a:ext cx="5148000" cy="63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ad7de"/>
            </a:solidFill>
            <a:round/>
          </a:ln>
        </p:spPr>
        <p:txBody>
          <a:bodyPr lIns="93600" rIns="93600" tIns="93600" bIns="93600" anchor="t">
            <a:noAutofit/>
          </a:bodyPr>
          <a:p>
            <a:r>
              <a:rPr b="0" lang="en-US" sz="1800" spc="-1" strike="noStrike">
                <a:solidFill>
                  <a:srgbClr val="172b4d"/>
                </a:solidFill>
                <a:latin typeface="Courier New"/>
              </a:rPr>
              <a:t>where / which gcc</a:t>
            </a:r>
            <a:endParaRPr b="0" lang="en-US" sz="18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152000" y="5040000"/>
            <a:ext cx="9900000" cy="405720"/>
          </a:xfrm>
          <a:prstGeom prst="rect">
            <a:avLst/>
          </a:prstGeom>
          <a:solidFill>
            <a:srgbClr val="fff0c2"/>
          </a:solidFill>
          <a:ln w="12600">
            <a:solidFill>
              <a:srgbClr val="fff0c2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Diagnosticar • selecionar cenário • seguir sem instalação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PLANO A • B • C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Três cenários de condução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68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22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71" name=""/>
          <p:cNvSpPr/>
          <p:nvPr/>
        </p:nvSpPr>
        <p:spPr>
          <a:xfrm>
            <a:off x="432000" y="1404000"/>
            <a:ext cx="3528000" cy="360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432000" y="1404000"/>
            <a:ext cx="64800" cy="36000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94000" y="1530000"/>
            <a:ext cx="3276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A — PYTHON + GCC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594000" y="1836000"/>
            <a:ext cx="3276000" cy="3117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Executar comparação Python + C.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Busca • cancelamento • ordem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75" name=""/>
          <p:cNvSpPr/>
          <p:nvPr/>
        </p:nvSpPr>
        <p:spPr>
          <a:xfrm>
            <a:off x="4320000" y="1404000"/>
            <a:ext cx="3528000" cy="360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320000" y="1404000"/>
            <a:ext cx="64800" cy="36000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4482000" y="1530000"/>
            <a:ext cx="3276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B — SOMENTE PYTHON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4482000" y="1836000"/>
            <a:ext cx="3276000" cy="3117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Executar Python.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C: demonstração docente ou atividade assíncrona.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379" name=""/>
          <p:cNvSpPr/>
          <p:nvPr/>
        </p:nvSpPr>
        <p:spPr>
          <a:xfrm>
            <a:off x="8208000" y="1404000"/>
            <a:ext cx="3528000" cy="3600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4dee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8208000" y="1404000"/>
            <a:ext cx="64800" cy="36000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8370000" y="1530000"/>
            <a:ext cx="3276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C — SEM AMBOS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8370000" y="1836000"/>
            <a:ext cx="3276000" cy="3117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Demonstração guiada.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Desenho • previsão • discussão.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  <a:p>
            <a:r>
              <a:rPr b="0" lang="en-US" sz="1800" spc="-1" strike="noStrike">
                <a:solidFill>
                  <a:srgbClr val="52667a"/>
                </a:solidFill>
                <a:latin typeface="Inter"/>
              </a:rPr>
              <a:t>Execução assíncrona.</a:t>
            </a:r>
            <a:endParaRPr b="0" lang="en-US" sz="1800" spc="-1" strike="noStrike">
              <a:solidFill>
                <a:srgbClr val="52667a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2cb1bc"/>
                </a:solidFill>
                <a:latin typeface="Inter"/>
              </a:rPr>
              <a:t>NÚCLEO DA PRÁTICA</a:t>
            </a:r>
            <a:endParaRPr b="1" lang="en-US" sz="11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O objetivo não depende da instalação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386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23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468000" y="1944000"/>
            <a:ext cx="2484000" cy="6516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102a43"/>
                </a:solidFill>
                <a:latin typeface="Inter"/>
              </a:rPr>
              <a:t>DESENHAR</a:t>
            </a:r>
            <a:endParaRPr b="1" lang="en-US" sz="17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3384000" y="1944000"/>
            <a:ext cx="2484000" cy="651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102a43"/>
                </a:solidFill>
                <a:latin typeface="Inter"/>
              </a:rPr>
              <a:t>PREVER</a:t>
            </a:r>
            <a:endParaRPr b="1" lang="en-US" sz="17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6300000" y="1944000"/>
            <a:ext cx="2484000" cy="6516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102a43"/>
                </a:solidFill>
                <a:latin typeface="Inter"/>
              </a:rPr>
              <a:t>OBSERVAR</a:t>
            </a:r>
            <a:endParaRPr b="1" lang="en-US" sz="17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9216000" y="1944000"/>
            <a:ext cx="2484000" cy="65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102a43"/>
                </a:solidFill>
                <a:latin typeface="Inter"/>
              </a:rPr>
              <a:t>EXPLICAR</a:t>
            </a:r>
            <a:endParaRPr b="1" lang="en-US" sz="17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188000" y="3276000"/>
            <a:ext cx="9720000" cy="437760"/>
          </a:xfrm>
          <a:prstGeom prst="rect">
            <a:avLst/>
          </a:prstGeom>
          <a:solidFill>
            <a:srgbClr val="173b56"/>
          </a:solidFill>
          <a:ln w="12600">
            <a:solidFill>
              <a:srgbClr val="5d8296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Inter"/>
              </a:rPr>
              <a:t>Busca: 101 → 1 comparação • 103 → 3 • 999 → 3</a:t>
            </a:r>
            <a:endParaRPr b="1" lang="en-US" sz="2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188000" y="4356000"/>
            <a:ext cx="972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2b134"/>
                </a:solidFill>
                <a:latin typeface="Inter"/>
              </a:rPr>
              <a:t>Laboratório completo: posterior ou assíncrono, se necessário</a:t>
            </a:r>
            <a:endParaRPr b="1" lang="en-US" sz="1800" spc="-1" strike="noStrike">
              <a:solidFill>
                <a:srgbClr val="f2b134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PRÁTICA POR GRUPO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Setup inicial de projeto versionado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398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24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612000" y="1404000"/>
            <a:ext cx="3960000" cy="3150000"/>
          </a:xfrm>
          <a:prstGeom prst="rect">
            <a:avLst/>
          </a:prstGeom>
          <a:solidFill>
            <a:srgbClr val="f1f5f7"/>
          </a:solidFill>
          <a:ln w="12600">
            <a:solidFill>
              <a:srgbClr val="cad7de"/>
            </a:solidFill>
            <a:round/>
          </a:ln>
        </p:spPr>
        <p:txBody>
          <a:bodyPr lIns="126000" rIns="126000" tIns="126000" bIns="126000" anchor="t">
            <a:noAutofit/>
          </a:bodyPr>
          <a:p>
            <a:r>
              <a:rPr b="1" lang="en-US" sz="2200" spc="-1" strike="noStrike">
                <a:solidFill>
                  <a:srgbClr val="172b4d"/>
                </a:solidFill>
                <a:latin typeface="Courier New"/>
              </a:rPr>
              <a:t>README.md</a:t>
            </a:r>
            <a:endParaRPr b="1" lang="en-US" sz="22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1" lang="en-US" sz="2200" spc="-1" strike="noStrike">
                <a:solidFill>
                  <a:srgbClr val="172b4d"/>
                </a:solidFill>
                <a:latin typeface="Courier New"/>
              </a:rPr>
              <a:t>docs/</a:t>
            </a:r>
            <a:endParaRPr b="1" lang="en-US" sz="22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1" lang="en-US" sz="2200" spc="-1" strike="noStrike">
                <a:solidFill>
                  <a:srgbClr val="172b4d"/>
                </a:solidFill>
                <a:latin typeface="Courier New"/>
              </a:rPr>
              <a:t>src/</a:t>
            </a:r>
            <a:endParaRPr b="1" lang="en-US" sz="22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1" lang="en-US" sz="2200" spc="-1" strike="noStrike">
                <a:solidFill>
                  <a:srgbClr val="172b4d"/>
                </a:solidFill>
                <a:latin typeface="Courier New"/>
              </a:rPr>
              <a:t>tests/</a:t>
            </a:r>
            <a:endParaRPr b="1" lang="en-US" sz="2200" spc="-1" strike="noStrike">
              <a:solidFill>
                <a:srgbClr val="172b4d"/>
              </a:solidFill>
              <a:latin typeface="Courier New"/>
            </a:endParaRPr>
          </a:p>
          <a:p>
            <a:r>
              <a:rPr b="1" lang="en-US" sz="2200" spc="-1" strike="noStrike">
                <a:solidFill>
                  <a:srgbClr val="172b4d"/>
                </a:solidFill>
                <a:latin typeface="Courier New"/>
              </a:rPr>
              <a:t>.gitignore</a:t>
            </a:r>
            <a:endParaRPr b="1" lang="en-US" sz="2200" spc="-1" strike="noStrike">
              <a:solidFill>
                <a:srgbClr val="172b4d"/>
              </a:solidFill>
              <a:latin typeface="Courier New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400000" y="1512000"/>
            <a:ext cx="5580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1  localizar ou clonar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400000" y="2340000"/>
            <a:ext cx="5580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2  observar com status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5400000" y="3168000"/>
            <a:ext cx="5580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3  preparar com add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5400000" y="3996000"/>
            <a:ext cx="5580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4  explicar commit / push / pull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224000" y="5112000"/>
            <a:ext cx="9792000" cy="375480"/>
          </a:xfrm>
          <a:prstGeom prst="rect">
            <a:avLst/>
          </a:prstGeom>
          <a:solidFill>
            <a:srgbClr val="f9e4de"/>
          </a:solidFill>
          <a:ln w="12600">
            <a:solidFill>
              <a:srgbClr val="f9e4de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600" spc="-1" strike="noStrike">
                <a:solidFill>
                  <a:srgbClr val="c84b31"/>
                </a:solidFill>
                <a:latin typeface="Inter"/>
              </a:rPr>
              <a:t>Fora de escopo: branches • merge • pull requests • conflitos</a:t>
            </a:r>
            <a:endParaRPr b="1" lang="en-US" sz="1600" spc="-1" strike="noStrike">
              <a:solidFill>
                <a:srgbClr val="c84b3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INTRODUÇÃO PRÁTICA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Product Backlog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10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25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468000" y="1404000"/>
            <a:ext cx="3420000" cy="417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REGISTRA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468000" y="1944000"/>
            <a:ext cx="3420000" cy="83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102a43"/>
                </a:solidFill>
                <a:latin typeface="Inter"/>
              </a:rPr>
              <a:t>necessidades</a:t>
            </a:r>
            <a:endParaRPr b="1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4320000" y="1404000"/>
            <a:ext cx="3420000" cy="417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PRIORIZA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4320000" y="1944000"/>
            <a:ext cx="3420000" cy="83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102a43"/>
                </a:solidFill>
                <a:latin typeface="Inter"/>
              </a:rPr>
              <a:t>valor e ordem</a:t>
            </a:r>
            <a:endParaRPr b="1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8172000" y="1404000"/>
            <a:ext cx="3420000" cy="41760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EVOLUI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8172000" y="1944000"/>
            <a:ext cx="3420000" cy="83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000" spc="-1" strike="noStrike">
                <a:solidFill>
                  <a:srgbClr val="102a43"/>
                </a:solidFill>
                <a:latin typeface="Inter"/>
              </a:rPr>
              <a:t>ao longo do projeto</a:t>
            </a:r>
            <a:endParaRPr b="1" lang="en-US" sz="2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548000" y="3384000"/>
            <a:ext cx="9180000" cy="483480"/>
          </a:xfrm>
          <a:prstGeom prst="rect">
            <a:avLst/>
          </a:prstGeom>
          <a:solidFill>
            <a:srgbClr val="dceff4"/>
          </a:solidFill>
          <a:ln w="12600">
            <a:solidFill>
              <a:srgbClr val="dceff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300" spc="-1" strike="noStrike">
                <a:solidFill>
                  <a:srgbClr val="102a43"/>
                </a:solidFill>
                <a:latin typeface="Inter"/>
              </a:rPr>
              <a:t>Não precisa antecipar a implementação técnica.</a:t>
            </a:r>
            <a:endParaRPr b="1" lang="en-US" sz="23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296000" y="4428000"/>
            <a:ext cx="9720000" cy="471600"/>
          </a:xfrm>
          <a:prstGeom prst="rect">
            <a:avLst/>
          </a:prstGeom>
          <a:solidFill>
            <a:srgbClr val="fff0c2"/>
          </a:solidFill>
          <a:ln w="12600">
            <a:solidFill>
              <a:srgbClr val="fff0c2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c84b31"/>
                </a:solidFill>
                <a:latin typeface="Inter"/>
              </a:rPr>
              <a:t>Necessidade do produto  ≠  estrutura de dados escolhida</a:t>
            </a:r>
            <a:endParaRPr b="1" lang="en-US" sz="2100" spc="-1" strike="noStrike">
              <a:solidFill>
                <a:srgbClr val="c84b3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BACKLOG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Exemplo genérico: central de pedidos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24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26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612000" y="1260000"/>
            <a:ext cx="1440000" cy="471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PB01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2196000" y="1260000"/>
            <a:ext cx="6192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Registrar pedido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8604000" y="1260000"/>
            <a:ext cx="2520000" cy="471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500" spc="-1" strike="noStrike">
                <a:solidFill>
                  <a:srgbClr val="102a43"/>
                </a:solidFill>
                <a:latin typeface="Inter"/>
              </a:rPr>
              <a:t>ALTA</a:t>
            </a:r>
            <a:endParaRPr b="1" lang="en-US" sz="1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612000" y="2106000"/>
            <a:ext cx="1440000" cy="471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PB02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2196000" y="2106000"/>
            <a:ext cx="6192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Consultar pedido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8604000" y="2106000"/>
            <a:ext cx="2520000" cy="471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500" spc="-1" strike="noStrike">
                <a:solidFill>
                  <a:srgbClr val="102a43"/>
                </a:solidFill>
                <a:latin typeface="Inter"/>
              </a:rPr>
              <a:t>ALTA</a:t>
            </a:r>
            <a:endParaRPr b="1" lang="en-US" sz="1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612000" y="2952000"/>
            <a:ext cx="1440000" cy="471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PB03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196000" y="2952000"/>
            <a:ext cx="6192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Listar pedidos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8604000" y="2952000"/>
            <a:ext cx="2520000" cy="471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500" spc="-1" strike="noStrike">
                <a:solidFill>
                  <a:srgbClr val="102a43"/>
                </a:solidFill>
                <a:latin typeface="Inter"/>
              </a:rPr>
              <a:t>ALTA</a:t>
            </a:r>
            <a:endParaRPr b="1" lang="en-US" sz="1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612000" y="3798000"/>
            <a:ext cx="1440000" cy="471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PB04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2196000" y="3798000"/>
            <a:ext cx="6192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Cancelar pedido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8604000" y="3798000"/>
            <a:ext cx="2520000" cy="471600"/>
          </a:xfrm>
          <a:prstGeom prst="rect">
            <a:avLst/>
          </a:prstGeom>
          <a:solidFill>
            <a:srgbClr val="fff0c2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500" spc="-1" strike="noStrike">
                <a:solidFill>
                  <a:srgbClr val="102a43"/>
                </a:solidFill>
                <a:latin typeface="Inter"/>
              </a:rPr>
              <a:t>MÉDIA</a:t>
            </a:r>
            <a:endParaRPr b="1" lang="en-US" sz="1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612000" y="4644000"/>
            <a:ext cx="1440000" cy="471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PB05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2196000" y="4644000"/>
            <a:ext cx="6192000" cy="47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Processar próximo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8604000" y="4644000"/>
            <a:ext cx="2520000" cy="47160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500" spc="-1" strike="noStrike">
                <a:solidFill>
                  <a:srgbClr val="102a43"/>
                </a:solidFill>
                <a:latin typeface="Inter"/>
              </a:rPr>
              <a:t>ALTA</a:t>
            </a:r>
            <a:endParaRPr b="1" lang="en-US" sz="1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2340000" y="5616000"/>
            <a:ext cx="7560000" cy="3448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400" spc="-1" strike="noStrike">
                <a:solidFill>
                  <a:srgbClr val="c84b31"/>
                </a:solidFill>
                <a:latin typeface="Inter"/>
              </a:rPr>
              <a:t>Exemplo didático — não é escopo de grupo</a:t>
            </a:r>
            <a:endParaRPr b="1" lang="en-US" sz="1400" spc="-1" strike="noStrike">
              <a:solidFill>
                <a:srgbClr val="c84b3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FORMATO SIMPLES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User Story: necessidade com contexto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46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27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612000" y="1404000"/>
            <a:ext cx="1512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700" spc="-1" strike="noStrike">
                <a:solidFill>
                  <a:srgbClr val="176b87"/>
                </a:solidFill>
                <a:latin typeface="Inter"/>
              </a:rPr>
              <a:t>Como</a:t>
            </a:r>
            <a:endParaRPr b="1" lang="en-US" sz="17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088000" y="1404000"/>
            <a:ext cx="5580000" cy="514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Inter"/>
              </a:rPr>
              <a:t>[tipo de usuário]</a:t>
            </a:r>
            <a:endParaRPr b="1" lang="en-US" sz="2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612000" y="2052000"/>
            <a:ext cx="1512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700" spc="-1" strike="noStrike">
                <a:solidFill>
                  <a:srgbClr val="2cb1bc"/>
                </a:solidFill>
                <a:latin typeface="Inter"/>
              </a:rPr>
              <a:t>quero</a:t>
            </a:r>
            <a:endParaRPr b="1" lang="en-US" sz="17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2088000" y="2052000"/>
            <a:ext cx="5580000" cy="514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Inter"/>
              </a:rPr>
              <a:t>[necessidade]</a:t>
            </a:r>
            <a:endParaRPr b="1" lang="en-US" sz="2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612000" y="2700000"/>
            <a:ext cx="1512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700" spc="-1" strike="noStrike">
                <a:solidFill>
                  <a:srgbClr val="2d8a64"/>
                </a:solidFill>
                <a:latin typeface="Inter"/>
              </a:rPr>
              <a:t>para</a:t>
            </a:r>
            <a:endParaRPr b="1" lang="en-US" sz="1700" spc="-1" strike="noStrike">
              <a:solidFill>
                <a:srgbClr val="2d8a64"/>
              </a:solidFill>
              <a:latin typeface="Inter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2088000" y="2700000"/>
            <a:ext cx="5580000" cy="514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Inter"/>
              </a:rPr>
              <a:t>[benefício]</a:t>
            </a:r>
            <a:endParaRPr b="1" lang="en-US" sz="25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080000" y="3780000"/>
            <a:ext cx="10080000" cy="939600"/>
          </a:xfrm>
          <a:prstGeom prst="rect">
            <a:avLst/>
          </a:prstGeom>
          <a:solidFill>
            <a:srgbClr val="dceff4"/>
          </a:solidFill>
          <a:ln w="12600">
            <a:solidFill>
              <a:srgbClr val="dceff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200" spc="-1" strike="noStrike">
                <a:solidFill>
                  <a:srgbClr val="102a43"/>
                </a:solidFill>
                <a:latin typeface="Inter"/>
              </a:rPr>
              <a:t>Como atendente, quero localizar um pedido pelo código,</a:t>
            </a:r>
            <a:endParaRPr b="1" lang="en-US" sz="2200" spc="-1" strike="noStrike">
              <a:solidFill>
                <a:srgbClr val="102a43"/>
              </a:solidFill>
              <a:latin typeface="Inter"/>
            </a:endParaRPr>
          </a:p>
          <a:p>
            <a:pPr algn="ctr"/>
            <a:r>
              <a:rPr b="1" lang="en-US" sz="2200" spc="-1" strike="noStrike">
                <a:solidFill>
                  <a:srgbClr val="102a43"/>
                </a:solidFill>
                <a:latin typeface="Inter"/>
              </a:rPr>
              <a:t>para consultar seu estado.</a:t>
            </a:r>
            <a:endParaRPr b="1" lang="en-US" sz="22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DELIMITAÇÃO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Projeto Integrador: somente o combinado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59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28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468000" y="1404000"/>
            <a:ext cx="5220000" cy="40572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Grupos e papéis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468000" y="1908000"/>
            <a:ext cx="5220000" cy="65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já organizados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228000" y="1404000"/>
            <a:ext cx="5220000" cy="40572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Escopo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228000" y="1908000"/>
            <a:ext cx="5220000" cy="65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tratado separadamente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468000" y="2952000"/>
            <a:ext cx="5220000" cy="405720"/>
          </a:xfrm>
          <a:prstGeom prst="rect">
            <a:avLst/>
          </a:prstGeom>
          <a:solidFill>
            <a:srgbClr val="2d8a64"/>
          </a:solidFill>
          <a:ln w="12600">
            <a:solidFill>
              <a:srgbClr val="2d8a6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Desenvolvimento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468000" y="3456000"/>
            <a:ext cx="5220000" cy="65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incremental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6228000" y="2952000"/>
            <a:ext cx="5220000" cy="405720"/>
          </a:xfrm>
          <a:prstGeom prst="rect">
            <a:avLst/>
          </a:prstGeom>
          <a:solidFill>
            <a:srgbClr val="f2b134"/>
          </a:solidFill>
          <a:ln w="12600">
            <a:solidFill>
              <a:srgbClr val="f2b134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Inter"/>
              </a:rPr>
              <a:t>Cadência</a:t>
            </a:r>
            <a:endParaRPr b="1" lang="en-US" sz="18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6228000" y="3456000"/>
            <a:ext cx="5220000" cy="65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d0dbe1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2100" spc="-1" strike="noStrike">
                <a:solidFill>
                  <a:srgbClr val="102a43"/>
                </a:solidFill>
                <a:latin typeface="Inter"/>
              </a:rPr>
              <a:t>Sprints de 2 semanas</a:t>
            </a:r>
            <a:endParaRPr b="1" lang="en-US" sz="21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188000" y="4932000"/>
            <a:ext cx="9900000" cy="405720"/>
          </a:xfrm>
          <a:prstGeom prst="rect">
            <a:avLst/>
          </a:prstGeom>
          <a:solidFill>
            <a:srgbClr val="f9e4de"/>
          </a:solidFill>
          <a:ln w="12600">
            <a:solidFill>
              <a:srgbClr val="f9e4de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800" spc="-1" strike="noStrike">
                <a:solidFill>
                  <a:srgbClr val="c84b31"/>
                </a:solidFill>
                <a:latin typeface="Inter"/>
              </a:rPr>
              <a:t>Nenhum tema ou escopo de grupo é definido nesta aula.</a:t>
            </a:r>
            <a:endParaRPr b="1" lang="en-US" sz="1800" spc="-1" strike="noStrike">
              <a:solidFill>
                <a:srgbClr val="c84b31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4ed"/>
          </a:solidFill>
          <a:ln w="12600">
            <a:solidFill>
              <a:srgbClr val="f7f4ed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176b87"/>
                </a:solidFill>
                <a:latin typeface="Inter"/>
              </a:rPr>
              <a:t>FECHAMENTO</a:t>
            </a:r>
            <a:endParaRPr b="1" lang="en-US" sz="1100" spc="-1" strike="noStrike">
              <a:solidFill>
                <a:srgbClr val="176b87"/>
              </a:solidFill>
              <a:latin typeface="Inter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102a43"/>
                </a:solidFill>
                <a:latin typeface="Inter"/>
              </a:rPr>
              <a:t>Síntese em cinco frases</a:t>
            </a:r>
            <a:endParaRPr b="1" lang="en-US" sz="30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74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cc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52667a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52667a"/>
                </a:solidFill>
                <a:latin typeface="Inter"/>
              </a:rPr>
              <a:t>29</a:t>
            </a:r>
            <a:endParaRPr b="1" lang="en-US" sz="1000" spc="-1" strike="noStrike">
              <a:solidFill>
                <a:srgbClr val="52667a"/>
              </a:solidFill>
              <a:latin typeface="Inter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612000" y="1260000"/>
            <a:ext cx="360000" cy="399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1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188000" y="1260000"/>
            <a:ext cx="990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Uma estrutura de dados é...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612000" y="2142000"/>
            <a:ext cx="360000" cy="399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2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188000" y="2142000"/>
            <a:ext cx="990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Antes de escolher, preciso...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612000" y="3024000"/>
            <a:ext cx="360000" cy="399600"/>
          </a:xfrm>
          <a:prstGeom prst="rect">
            <a:avLst/>
          </a:prstGeom>
          <a:solidFill>
            <a:srgbClr val="176b87"/>
          </a:solidFill>
          <a:ln w="12600">
            <a:solidFill>
              <a:srgbClr val="176b87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3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188000" y="3024000"/>
            <a:ext cx="990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Representação difere de implementação porque...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612000" y="3906000"/>
            <a:ext cx="360000" cy="3996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4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188000" y="3906000"/>
            <a:ext cx="990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Um backlog registra...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612000" y="4788000"/>
            <a:ext cx="360000" cy="399600"/>
          </a:xfrm>
          <a:prstGeom prst="rect">
            <a:avLst/>
          </a:prstGeom>
          <a:solidFill>
            <a:srgbClr val="2cb1bc"/>
          </a:solidFill>
          <a:ln w="12600">
            <a:solidFill>
              <a:srgbClr val="2cb1bc"/>
            </a:solidFill>
            <a:round/>
          </a:ln>
        </p:spPr>
        <p:txBody>
          <a:bodyPr lIns="64800" rIns="64800" tIns="64800" bIns="648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Inter"/>
              </a:rPr>
              <a:t>5</a:t>
            </a:r>
            <a:endParaRPr b="1" lang="en-US" sz="17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1188000" y="4788000"/>
            <a:ext cx="9900000" cy="40572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Inter"/>
              </a:rPr>
              <a:t>Necessidade não é estrutura porque...</a:t>
            </a:r>
            <a:endParaRPr b="1" lang="en-US" sz="1800" spc="-1" strike="noStrike">
              <a:solidFill>
                <a:srgbClr val="102a43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540000" y="270000"/>
            <a:ext cx="5400000" cy="2991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100" spc="-1" strike="noStrike">
                <a:solidFill>
                  <a:srgbClr val="2cb1bc"/>
                </a:solidFill>
                <a:latin typeface="Inter"/>
              </a:rPr>
              <a:t>PONTE</a:t>
            </a:r>
            <a:endParaRPr b="1" lang="en-US" sz="11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540000" y="486000"/>
            <a:ext cx="10800000" cy="651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Próxima aula: TAD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90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30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828000" y="1512000"/>
            <a:ext cx="5760000" cy="590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Como descrever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828000" y="2196000"/>
            <a:ext cx="7200000" cy="6832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600" spc="-1" strike="noStrike">
                <a:solidFill>
                  <a:srgbClr val="f2b134"/>
                </a:solidFill>
                <a:latin typeface="Inter"/>
              </a:rPr>
              <a:t>dados + operações</a:t>
            </a:r>
            <a:endParaRPr b="1" lang="en-US" sz="3600" spc="-1" strike="noStrike">
              <a:solidFill>
                <a:srgbClr val="f2b134"/>
              </a:solidFill>
              <a:latin typeface="Inter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828000" y="3024000"/>
            <a:ext cx="6120000" cy="590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Inter"/>
              </a:rPr>
              <a:t>sem depender</a:t>
            </a:r>
            <a:endParaRPr b="1" lang="en-US" sz="30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828000" y="3708000"/>
            <a:ext cx="8640000" cy="6832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600" spc="-1" strike="noStrike">
                <a:solidFill>
                  <a:srgbClr val="2cb1bc"/>
                </a:solidFill>
                <a:latin typeface="Inter"/>
              </a:rPr>
              <a:t>do código concreto?</a:t>
            </a:r>
            <a:endParaRPr b="1" lang="en-US" sz="36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828000" y="5004000"/>
            <a:ext cx="6840000" cy="3920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1700" spc="-1" strike="noStrike">
                <a:solidFill>
                  <a:srgbClr val="c9dee8"/>
                </a:solidFill>
                <a:latin typeface="Inter"/>
              </a:rPr>
              <a:t>A formalização começa na Aula 03.</a:t>
            </a:r>
            <a:endParaRPr b="0" lang="en-US" sz="1700" spc="-1" strike="noStrike">
              <a:solidFill>
                <a:srgbClr val="c9dee8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12600">
            <a:solidFill>
              <a:srgbClr val="102a43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540000" y="6426000"/>
            <a:ext cx="11106000" cy="0"/>
          </a:xfrm>
          <a:prstGeom prst="line">
            <a:avLst/>
          </a:prstGeom>
          <a:ln w="7200">
            <a:solidFill>
              <a:srgbClr val="6d87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40000" y="6444000"/>
            <a:ext cx="9360000" cy="26856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0" lang="en-US" sz="900" spc="-1" strike="noStrike">
                <a:solidFill>
                  <a:srgbClr val="bdd2de"/>
                </a:solidFill>
                <a:latin typeface="Inter"/>
              </a:rPr>
              <a:t>FATEC Mauá • Informática para Negócios • IED-001</a:t>
            </a:r>
            <a:endParaRPr b="0" lang="en-US" sz="9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0908000" y="6426000"/>
            <a:ext cx="720000" cy="2826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pPr algn="r"/>
            <a:r>
              <a:rPr b="1" lang="en-US" sz="1000" spc="-1" strike="noStrike">
                <a:solidFill>
                  <a:srgbClr val="bdd2de"/>
                </a:solidFill>
                <a:latin typeface="Inter"/>
              </a:rPr>
              <a:t>31</a:t>
            </a:r>
            <a:endParaRPr b="1" lang="en-US" sz="1000" spc="-1" strike="noStrike">
              <a:solidFill>
                <a:srgbClr val="bdd2de"/>
              </a:solidFill>
              <a:latin typeface="Inter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792000" y="1404000"/>
            <a:ext cx="9000000" cy="651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400" spc="-1" strike="noStrike">
                <a:solidFill>
                  <a:srgbClr val="ffffff"/>
                </a:solidFill>
                <a:latin typeface="Inter"/>
              </a:rPr>
              <a:t>Uma boa estrutura</a:t>
            </a:r>
            <a:endParaRPr b="1" lang="en-US" sz="34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92000" y="2124000"/>
            <a:ext cx="10260000" cy="6832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600" spc="-1" strike="noStrike">
                <a:solidFill>
                  <a:srgbClr val="f2b134"/>
                </a:solidFill>
                <a:latin typeface="Inter"/>
              </a:rPr>
              <a:t>é uma decisão justificada.</a:t>
            </a:r>
            <a:endParaRPr b="1" lang="en-US" sz="3600" spc="-1" strike="noStrike">
              <a:solidFill>
                <a:srgbClr val="f2b134"/>
              </a:solidFill>
              <a:latin typeface="Inter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92000" y="3060000"/>
            <a:ext cx="9000000" cy="65124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400" spc="-1" strike="noStrike">
                <a:solidFill>
                  <a:srgbClr val="ffffff"/>
                </a:solidFill>
                <a:latin typeface="Inter"/>
              </a:rPr>
              <a:t>Uma boa necessidade</a:t>
            </a:r>
            <a:endParaRPr b="1" lang="en-US" sz="3400" spc="-1" strike="noStrike">
              <a:solidFill>
                <a:srgbClr val="ffffff"/>
              </a:solidFill>
              <a:latin typeface="Inter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792000" y="3744000"/>
            <a:ext cx="10620000" cy="62208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3200" spc="-1" strike="noStrike">
                <a:solidFill>
                  <a:srgbClr val="2cb1bc"/>
                </a:solidFill>
                <a:latin typeface="Inter"/>
              </a:rPr>
              <a:t>não escolhe a técnica antes da hora.</a:t>
            </a:r>
            <a:endParaRPr b="1" lang="en-US" sz="3200" spc="-1" strike="noStrike">
              <a:solidFill>
                <a:srgbClr val="2cb1bc"/>
              </a:solidFill>
              <a:latin typeface="Inter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92000" y="5148000"/>
            <a:ext cx="3600000" cy="421200"/>
          </a:xfrm>
          <a:prstGeom prst="rect">
            <a:avLst/>
          </a:prstGeom>
          <a:noFill/>
          <a:ln w="12600">
            <a:noFill/>
          </a:ln>
        </p:spPr>
        <p:txBody>
          <a:bodyPr lIns="64800" rIns="64800" tIns="64800" bIns="64800" anchor="t">
            <a:noAutofit/>
          </a:bodyPr>
          <a:p>
            <a:r>
              <a:rPr b="1" lang="en-US" sz="1900" spc="-1" strike="noStrike">
                <a:solidFill>
                  <a:srgbClr val="c9dee8"/>
                </a:solidFill>
                <a:latin typeface="Inter"/>
              </a:rPr>
              <a:t>Perguntas?</a:t>
            </a:r>
            <a:endParaRPr b="1" lang="en-US" sz="1900" spc="-1" strike="noStrike">
              <a:solidFill>
                <a:srgbClr val="c9dee8"/>
              </a:solidFill>
              <a:latin typeface="In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2026-08-12T03:22:45Z</dcterms:modified>
  <cp:revision>1</cp:revision>
  <dc:subject/>
  <dc:title/>
</cp:coreProperties>
</file>